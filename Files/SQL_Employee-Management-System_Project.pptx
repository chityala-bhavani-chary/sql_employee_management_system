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15" r:id="rId3"/>
    <p:sldId id="285" r:id="rId4"/>
    <p:sldId id="261" r:id="rId5"/>
    <p:sldId id="314" r:id="rId6"/>
    <p:sldId id="262" r:id="rId7"/>
    <p:sldId id="288" r:id="rId8"/>
    <p:sldId id="263" r:id="rId9"/>
    <p:sldId id="302" r:id="rId10"/>
    <p:sldId id="286" r:id="rId11"/>
    <p:sldId id="287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284" r:id="rId32"/>
    <p:sldId id="271" r:id="rId33"/>
    <p:sldId id="283" r:id="rId34"/>
    <p:sldId id="259" r:id="rId35"/>
  </p:sldIdLst>
  <p:sldSz cx="12192000" cy="6858000"/>
  <p:notesSz cx="6858000" cy="9144000"/>
  <p:embeddedFontLst>
    <p:embeddedFont>
      <p:font typeface="Libre Baskerville" panose="02000000000000000000" pitchFamily="2" charset="0"/>
      <p:regular r:id="rId37"/>
      <p:bold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28"/>
    <p:restoredTop sz="94643"/>
  </p:normalViewPr>
  <p:slideViewPr>
    <p:cSldViewPr snapToGrid="0">
      <p:cViewPr varScale="1">
        <p:scale>
          <a:sx n="115" d="100"/>
          <a:sy n="115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E628EA-C773-024D-984D-FB35BAA2C2DE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AC02EE5-597E-A045-94A9-9C30F66CE8F9}">
      <dgm:prSet phldrT="[Text]"/>
      <dgm:spPr>
        <a:solidFill>
          <a:schemeClr val="tx1"/>
        </a:solidFill>
      </dgm:spPr>
      <dgm:t>
        <a:bodyPr/>
        <a:lstStyle/>
        <a:p>
          <a:pPr>
            <a:buFont typeface="Wingdings" pitchFamily="2" charset="2"/>
            <a:buChar char="ü"/>
          </a:pPr>
          <a:r>
            <a:rPr lang="en-US" b="1" dirty="0">
              <a:solidFill>
                <a:srgbClr val="FF0000"/>
              </a:solidFill>
            </a:rPr>
            <a:t>Objective of the Project</a:t>
          </a:r>
          <a:endParaRPr lang="en-GB" b="1" dirty="0">
            <a:solidFill>
              <a:srgbClr val="FF0000"/>
            </a:solidFill>
          </a:endParaRPr>
        </a:p>
      </dgm:t>
    </dgm:pt>
    <dgm:pt modelId="{5CBFF019-DBC6-9246-931D-1E8A21C0BC7F}" type="parTrans" cxnId="{519B73F2-BE24-624E-8B1B-A4ED0F10B35D}">
      <dgm:prSet/>
      <dgm:spPr/>
      <dgm:t>
        <a:bodyPr/>
        <a:lstStyle/>
        <a:p>
          <a:endParaRPr lang="en-GB"/>
        </a:p>
      </dgm:t>
    </dgm:pt>
    <dgm:pt modelId="{C7391A59-A8BF-FB41-9F83-9FF5641D4D91}" type="sibTrans" cxnId="{519B73F2-BE24-624E-8B1B-A4ED0F10B35D}">
      <dgm:prSet/>
      <dgm:spPr/>
      <dgm:t>
        <a:bodyPr/>
        <a:lstStyle/>
        <a:p>
          <a:endParaRPr lang="en-GB"/>
        </a:p>
      </dgm:t>
    </dgm:pt>
    <dgm:pt modelId="{C8584189-A46C-354D-AC27-424EBC08F064}">
      <dgm:prSet phldrT="[Text]"/>
      <dgm:spPr>
        <a:solidFill>
          <a:schemeClr val="tx1"/>
        </a:solidFill>
      </dgm:spPr>
      <dgm:t>
        <a:bodyPr/>
        <a:lstStyle/>
        <a:p>
          <a:pPr>
            <a:buFont typeface="Wingdings" pitchFamily="2" charset="2"/>
            <a:buChar char="ü"/>
          </a:pPr>
          <a:r>
            <a:rPr lang="en-US" b="1" dirty="0">
              <a:solidFill>
                <a:srgbClr val="FF0000"/>
              </a:solidFill>
            </a:rPr>
            <a:t>ER Diagram and schema explanation</a:t>
          </a:r>
          <a:endParaRPr lang="en-GB" b="1" dirty="0">
            <a:solidFill>
              <a:srgbClr val="FF0000"/>
            </a:solidFill>
          </a:endParaRPr>
        </a:p>
      </dgm:t>
    </dgm:pt>
    <dgm:pt modelId="{11A6E55F-9C3D-1F4C-AA9A-F92DF9E5C761}" type="parTrans" cxnId="{8F94DE07-2CFF-DF40-A4CE-AFC568E0D45F}">
      <dgm:prSet/>
      <dgm:spPr/>
      <dgm:t>
        <a:bodyPr/>
        <a:lstStyle/>
        <a:p>
          <a:endParaRPr lang="en-GB"/>
        </a:p>
      </dgm:t>
    </dgm:pt>
    <dgm:pt modelId="{DF3A1BD8-0937-F745-9E83-9F5E8FA666F1}" type="sibTrans" cxnId="{8F94DE07-2CFF-DF40-A4CE-AFC568E0D45F}">
      <dgm:prSet/>
      <dgm:spPr/>
      <dgm:t>
        <a:bodyPr/>
        <a:lstStyle/>
        <a:p>
          <a:endParaRPr lang="en-GB"/>
        </a:p>
      </dgm:t>
    </dgm:pt>
    <dgm:pt modelId="{091BD2D1-81E2-6444-BB55-6D43541623A1}">
      <dgm:prSet/>
      <dgm:spPr>
        <a:solidFill>
          <a:schemeClr val="tx1"/>
        </a:solidFill>
      </dgm:spPr>
      <dgm:t>
        <a:bodyPr/>
        <a:lstStyle/>
        <a:p>
          <a:r>
            <a:rPr lang="en-US" b="1" dirty="0">
              <a:solidFill>
                <a:srgbClr val="FF0000"/>
              </a:solidFill>
            </a:rPr>
            <a:t>Tables Used in the Project</a:t>
          </a:r>
        </a:p>
      </dgm:t>
    </dgm:pt>
    <dgm:pt modelId="{DEF766C5-F700-5747-A893-46049D1BE727}" type="parTrans" cxnId="{6208BE57-F72F-C94F-9DCF-5B75CC486B1A}">
      <dgm:prSet/>
      <dgm:spPr/>
      <dgm:t>
        <a:bodyPr/>
        <a:lstStyle/>
        <a:p>
          <a:endParaRPr lang="en-GB"/>
        </a:p>
      </dgm:t>
    </dgm:pt>
    <dgm:pt modelId="{129B0DF0-A15C-2143-A397-F10C9A5CBFBE}" type="sibTrans" cxnId="{6208BE57-F72F-C94F-9DCF-5B75CC486B1A}">
      <dgm:prSet/>
      <dgm:spPr/>
      <dgm:t>
        <a:bodyPr/>
        <a:lstStyle/>
        <a:p>
          <a:endParaRPr lang="en-GB"/>
        </a:p>
      </dgm:t>
    </dgm:pt>
    <dgm:pt modelId="{E8DEF227-1534-B141-9ED8-B60261F5C170}">
      <dgm:prSet/>
      <dgm:spPr>
        <a:solidFill>
          <a:schemeClr val="tx1"/>
        </a:solidFill>
      </dgm:spPr>
      <dgm:t>
        <a:bodyPr/>
        <a:lstStyle/>
        <a:p>
          <a:r>
            <a:rPr lang="en-US" b="1">
              <a:solidFill>
                <a:srgbClr val="FF0000"/>
              </a:solidFill>
            </a:rPr>
            <a:t>Key analysis questions (use cases)</a:t>
          </a:r>
          <a:endParaRPr lang="en-US" b="1" dirty="0">
            <a:solidFill>
              <a:srgbClr val="FF0000"/>
            </a:solidFill>
          </a:endParaRPr>
        </a:p>
      </dgm:t>
    </dgm:pt>
    <dgm:pt modelId="{11E0EFB2-D7D4-5B41-9875-63AEEA8B0517}" type="parTrans" cxnId="{B0C1298D-E311-4A42-8D4B-DC714D13FADC}">
      <dgm:prSet/>
      <dgm:spPr/>
      <dgm:t>
        <a:bodyPr/>
        <a:lstStyle/>
        <a:p>
          <a:endParaRPr lang="en-GB"/>
        </a:p>
      </dgm:t>
    </dgm:pt>
    <dgm:pt modelId="{D250F752-B6ED-4E4E-ACC9-C2F3BF6898FD}" type="sibTrans" cxnId="{B0C1298D-E311-4A42-8D4B-DC714D13FADC}">
      <dgm:prSet/>
      <dgm:spPr/>
      <dgm:t>
        <a:bodyPr/>
        <a:lstStyle/>
        <a:p>
          <a:endParaRPr lang="en-GB"/>
        </a:p>
      </dgm:t>
    </dgm:pt>
    <dgm:pt modelId="{A73C8427-2C12-BF47-8902-44E55BAB5D08}">
      <dgm:prSet/>
      <dgm:spPr>
        <a:solidFill>
          <a:schemeClr val="tx1"/>
        </a:solidFill>
      </dgm:spPr>
      <dgm:t>
        <a:bodyPr/>
        <a:lstStyle/>
        <a:p>
          <a:r>
            <a:rPr lang="en-US" b="1">
              <a:solidFill>
                <a:srgbClr val="FF0000"/>
              </a:solidFill>
            </a:rPr>
            <a:t>SQL query results with screenshots or summaries</a:t>
          </a:r>
          <a:endParaRPr lang="en-US" b="1" dirty="0">
            <a:solidFill>
              <a:srgbClr val="FF0000"/>
            </a:solidFill>
          </a:endParaRPr>
        </a:p>
      </dgm:t>
    </dgm:pt>
    <dgm:pt modelId="{CFA4B855-FE36-9F45-9997-63D2D105541D}" type="parTrans" cxnId="{4D6DCA16-0452-A74E-B3C6-5ACA69976347}">
      <dgm:prSet/>
      <dgm:spPr/>
      <dgm:t>
        <a:bodyPr/>
        <a:lstStyle/>
        <a:p>
          <a:endParaRPr lang="en-GB"/>
        </a:p>
      </dgm:t>
    </dgm:pt>
    <dgm:pt modelId="{D4A1394C-B1F8-B847-A37D-E712E1357F39}" type="sibTrans" cxnId="{4D6DCA16-0452-A74E-B3C6-5ACA69976347}">
      <dgm:prSet/>
      <dgm:spPr/>
      <dgm:t>
        <a:bodyPr/>
        <a:lstStyle/>
        <a:p>
          <a:endParaRPr lang="en-GB"/>
        </a:p>
      </dgm:t>
    </dgm:pt>
    <dgm:pt modelId="{5C0A806A-B8AE-EE4B-BC15-A4BEB3A6C9CD}">
      <dgm:prSet/>
      <dgm:spPr>
        <a:solidFill>
          <a:schemeClr val="tx1"/>
        </a:solidFill>
      </dgm:spPr>
      <dgm:t>
        <a:bodyPr/>
        <a:lstStyle/>
        <a:p>
          <a:r>
            <a:rPr lang="en-US" b="1">
              <a:solidFill>
                <a:srgbClr val="FF0000"/>
              </a:solidFill>
            </a:rPr>
            <a:t>Challenges</a:t>
          </a:r>
          <a:endParaRPr lang="en-US" b="1" dirty="0">
            <a:solidFill>
              <a:srgbClr val="FF0000"/>
            </a:solidFill>
          </a:endParaRPr>
        </a:p>
      </dgm:t>
    </dgm:pt>
    <dgm:pt modelId="{9D4AF5DA-63BC-3B4B-A4F2-7517ED85D17C}" type="parTrans" cxnId="{E47BB9DA-6B29-CB49-B30D-50E45958522E}">
      <dgm:prSet/>
      <dgm:spPr/>
      <dgm:t>
        <a:bodyPr/>
        <a:lstStyle/>
        <a:p>
          <a:endParaRPr lang="en-GB"/>
        </a:p>
      </dgm:t>
    </dgm:pt>
    <dgm:pt modelId="{5CB96B6A-FF7C-3E42-92E1-2E2D521AAD09}" type="sibTrans" cxnId="{E47BB9DA-6B29-CB49-B30D-50E45958522E}">
      <dgm:prSet/>
      <dgm:spPr/>
      <dgm:t>
        <a:bodyPr/>
        <a:lstStyle/>
        <a:p>
          <a:endParaRPr lang="en-GB"/>
        </a:p>
      </dgm:t>
    </dgm:pt>
    <dgm:pt modelId="{15BD8253-43E7-464D-A82E-A4C18E438467}">
      <dgm:prSet/>
      <dgm:spPr>
        <a:solidFill>
          <a:schemeClr val="tx1"/>
        </a:solidFill>
      </dgm:spPr>
      <dgm:t>
        <a:bodyPr/>
        <a:lstStyle/>
        <a:p>
          <a:r>
            <a:rPr lang="en-US" b="1">
              <a:solidFill>
                <a:srgbClr val="FF0000"/>
              </a:solidFill>
            </a:rPr>
            <a:t>Final business insights and recommendations</a:t>
          </a:r>
          <a:endParaRPr lang="en-US" b="1" dirty="0">
            <a:solidFill>
              <a:srgbClr val="FF0000"/>
            </a:solidFill>
          </a:endParaRPr>
        </a:p>
      </dgm:t>
    </dgm:pt>
    <dgm:pt modelId="{C2F1FCED-A982-3940-87AF-99567BEE0951}" type="parTrans" cxnId="{1077D751-2F28-154C-A145-C5A5B79392D8}">
      <dgm:prSet/>
      <dgm:spPr/>
      <dgm:t>
        <a:bodyPr/>
        <a:lstStyle/>
        <a:p>
          <a:endParaRPr lang="en-GB"/>
        </a:p>
      </dgm:t>
    </dgm:pt>
    <dgm:pt modelId="{63DC9E72-9484-F14F-BC31-D4DFFAF986F9}" type="sibTrans" cxnId="{1077D751-2F28-154C-A145-C5A5B79392D8}">
      <dgm:prSet/>
      <dgm:spPr/>
      <dgm:t>
        <a:bodyPr/>
        <a:lstStyle/>
        <a:p>
          <a:endParaRPr lang="en-GB"/>
        </a:p>
      </dgm:t>
    </dgm:pt>
    <dgm:pt modelId="{E1CD3014-A28C-204F-83DF-F036260558E1}">
      <dgm:prSet/>
      <dgm:spPr>
        <a:solidFill>
          <a:schemeClr val="tx1"/>
        </a:solidFill>
      </dgm:spPr>
      <dgm:t>
        <a:bodyPr/>
        <a:lstStyle/>
        <a:p>
          <a:r>
            <a:rPr lang="en-US" b="1" dirty="0">
              <a:solidFill>
                <a:srgbClr val="FF0000"/>
              </a:solidFill>
            </a:rPr>
            <a:t>Conclusion (Key finding overall)</a:t>
          </a:r>
        </a:p>
      </dgm:t>
    </dgm:pt>
    <dgm:pt modelId="{DE94B4AD-963D-824B-A9D1-0C9728F9DCC4}" type="parTrans" cxnId="{1307B1A9-A07D-774E-BCA9-8C162E456F2C}">
      <dgm:prSet/>
      <dgm:spPr/>
      <dgm:t>
        <a:bodyPr/>
        <a:lstStyle/>
        <a:p>
          <a:endParaRPr lang="en-GB"/>
        </a:p>
      </dgm:t>
    </dgm:pt>
    <dgm:pt modelId="{1CC41084-6DA6-2D44-8D3D-10F1465894F2}" type="sibTrans" cxnId="{1307B1A9-A07D-774E-BCA9-8C162E456F2C}">
      <dgm:prSet/>
      <dgm:spPr/>
      <dgm:t>
        <a:bodyPr/>
        <a:lstStyle/>
        <a:p>
          <a:endParaRPr lang="en-GB"/>
        </a:p>
      </dgm:t>
    </dgm:pt>
    <dgm:pt modelId="{2D753BFB-B053-ED4F-AAB6-760C3F96F11D}" type="pres">
      <dgm:prSet presAssocID="{BEE628EA-C773-024D-984D-FB35BAA2C2DE}" presName="Name0" presStyleCnt="0">
        <dgm:presLayoutVars>
          <dgm:dir/>
          <dgm:animLvl val="lvl"/>
          <dgm:resizeHandles val="exact"/>
        </dgm:presLayoutVars>
      </dgm:prSet>
      <dgm:spPr/>
    </dgm:pt>
    <dgm:pt modelId="{3C94E10C-6433-BD48-8205-1A9FE87DE908}" type="pres">
      <dgm:prSet presAssocID="{E1CD3014-A28C-204F-83DF-F036260558E1}" presName="boxAndChildren" presStyleCnt="0"/>
      <dgm:spPr/>
    </dgm:pt>
    <dgm:pt modelId="{607CCCE8-EBD4-9E43-A175-BB7901DACB36}" type="pres">
      <dgm:prSet presAssocID="{E1CD3014-A28C-204F-83DF-F036260558E1}" presName="parentTextBox" presStyleLbl="node1" presStyleIdx="0" presStyleCnt="8"/>
      <dgm:spPr/>
    </dgm:pt>
    <dgm:pt modelId="{5FC52A95-E16C-1F4E-BFBA-3A1019A8C38E}" type="pres">
      <dgm:prSet presAssocID="{63DC9E72-9484-F14F-BC31-D4DFFAF986F9}" presName="sp" presStyleCnt="0"/>
      <dgm:spPr/>
    </dgm:pt>
    <dgm:pt modelId="{10211F17-34F9-AD4D-9E31-CE0E42ECF41E}" type="pres">
      <dgm:prSet presAssocID="{15BD8253-43E7-464D-A82E-A4C18E438467}" presName="arrowAndChildren" presStyleCnt="0"/>
      <dgm:spPr/>
    </dgm:pt>
    <dgm:pt modelId="{A356C4FC-51CC-7440-83D9-665419158B6E}" type="pres">
      <dgm:prSet presAssocID="{15BD8253-43E7-464D-A82E-A4C18E438467}" presName="parentTextArrow" presStyleLbl="node1" presStyleIdx="1" presStyleCnt="8"/>
      <dgm:spPr/>
    </dgm:pt>
    <dgm:pt modelId="{587238AA-C450-C942-A6DC-9744897A1B6E}" type="pres">
      <dgm:prSet presAssocID="{5CB96B6A-FF7C-3E42-92E1-2E2D521AAD09}" presName="sp" presStyleCnt="0"/>
      <dgm:spPr/>
    </dgm:pt>
    <dgm:pt modelId="{CACA0D8F-33AE-7C41-B64C-4AA9C3DB3A92}" type="pres">
      <dgm:prSet presAssocID="{5C0A806A-B8AE-EE4B-BC15-A4BEB3A6C9CD}" presName="arrowAndChildren" presStyleCnt="0"/>
      <dgm:spPr/>
    </dgm:pt>
    <dgm:pt modelId="{B769C916-90A6-5544-BDEE-4E95402D17C0}" type="pres">
      <dgm:prSet presAssocID="{5C0A806A-B8AE-EE4B-BC15-A4BEB3A6C9CD}" presName="parentTextArrow" presStyleLbl="node1" presStyleIdx="2" presStyleCnt="8"/>
      <dgm:spPr/>
    </dgm:pt>
    <dgm:pt modelId="{A339D876-9875-4143-9FE7-0F4E64763068}" type="pres">
      <dgm:prSet presAssocID="{D4A1394C-B1F8-B847-A37D-E712E1357F39}" presName="sp" presStyleCnt="0"/>
      <dgm:spPr/>
    </dgm:pt>
    <dgm:pt modelId="{0F73FBBC-7CA4-9D45-8337-81C5921C5D2B}" type="pres">
      <dgm:prSet presAssocID="{A73C8427-2C12-BF47-8902-44E55BAB5D08}" presName="arrowAndChildren" presStyleCnt="0"/>
      <dgm:spPr/>
    </dgm:pt>
    <dgm:pt modelId="{F9D68546-F540-7941-A640-C450A341723C}" type="pres">
      <dgm:prSet presAssocID="{A73C8427-2C12-BF47-8902-44E55BAB5D08}" presName="parentTextArrow" presStyleLbl="node1" presStyleIdx="3" presStyleCnt="8"/>
      <dgm:spPr/>
    </dgm:pt>
    <dgm:pt modelId="{7280C6BB-8C24-4845-9AE9-EE7B1F7727AB}" type="pres">
      <dgm:prSet presAssocID="{D250F752-B6ED-4E4E-ACC9-C2F3BF6898FD}" presName="sp" presStyleCnt="0"/>
      <dgm:spPr/>
    </dgm:pt>
    <dgm:pt modelId="{584B2D4E-70FD-A14A-931C-EF3DA6442357}" type="pres">
      <dgm:prSet presAssocID="{E8DEF227-1534-B141-9ED8-B60261F5C170}" presName="arrowAndChildren" presStyleCnt="0"/>
      <dgm:spPr/>
    </dgm:pt>
    <dgm:pt modelId="{F5A20A83-5E37-9448-9F4F-98E0C4FE1355}" type="pres">
      <dgm:prSet presAssocID="{E8DEF227-1534-B141-9ED8-B60261F5C170}" presName="parentTextArrow" presStyleLbl="node1" presStyleIdx="4" presStyleCnt="8"/>
      <dgm:spPr/>
    </dgm:pt>
    <dgm:pt modelId="{DFE68806-518A-1940-9E64-25E29D22175C}" type="pres">
      <dgm:prSet presAssocID="{DF3A1BD8-0937-F745-9E83-9F5E8FA666F1}" presName="sp" presStyleCnt="0"/>
      <dgm:spPr/>
    </dgm:pt>
    <dgm:pt modelId="{FBAAD434-2603-C141-8B3B-B79E703B85D7}" type="pres">
      <dgm:prSet presAssocID="{C8584189-A46C-354D-AC27-424EBC08F064}" presName="arrowAndChildren" presStyleCnt="0"/>
      <dgm:spPr/>
    </dgm:pt>
    <dgm:pt modelId="{14B50B63-BA7B-DA43-BAF7-9170471FE44C}" type="pres">
      <dgm:prSet presAssocID="{C8584189-A46C-354D-AC27-424EBC08F064}" presName="parentTextArrow" presStyleLbl="node1" presStyleIdx="5" presStyleCnt="8"/>
      <dgm:spPr/>
    </dgm:pt>
    <dgm:pt modelId="{28993EAC-236F-DB49-8CDA-5B6238AEDDAA}" type="pres">
      <dgm:prSet presAssocID="{129B0DF0-A15C-2143-A397-F10C9A5CBFBE}" presName="sp" presStyleCnt="0"/>
      <dgm:spPr/>
    </dgm:pt>
    <dgm:pt modelId="{0969024E-15D4-D64E-9C9B-7DF04F82F801}" type="pres">
      <dgm:prSet presAssocID="{091BD2D1-81E2-6444-BB55-6D43541623A1}" presName="arrowAndChildren" presStyleCnt="0"/>
      <dgm:spPr/>
    </dgm:pt>
    <dgm:pt modelId="{21E239F7-4F43-5247-83C1-AA9490032739}" type="pres">
      <dgm:prSet presAssocID="{091BD2D1-81E2-6444-BB55-6D43541623A1}" presName="parentTextArrow" presStyleLbl="node1" presStyleIdx="6" presStyleCnt="8"/>
      <dgm:spPr/>
    </dgm:pt>
    <dgm:pt modelId="{EC6B59D5-DCDF-C249-862C-9B1F5F88178F}" type="pres">
      <dgm:prSet presAssocID="{C7391A59-A8BF-FB41-9F83-9FF5641D4D91}" presName="sp" presStyleCnt="0"/>
      <dgm:spPr/>
    </dgm:pt>
    <dgm:pt modelId="{7DE4FB6C-E54C-1D4F-9A77-C1939016BCC3}" type="pres">
      <dgm:prSet presAssocID="{4AC02EE5-597E-A045-94A9-9C30F66CE8F9}" presName="arrowAndChildren" presStyleCnt="0"/>
      <dgm:spPr/>
    </dgm:pt>
    <dgm:pt modelId="{4F747962-FB92-1549-ABFD-D058C9685CB0}" type="pres">
      <dgm:prSet presAssocID="{4AC02EE5-597E-A045-94A9-9C30F66CE8F9}" presName="parentTextArrow" presStyleLbl="node1" presStyleIdx="7" presStyleCnt="8"/>
      <dgm:spPr/>
    </dgm:pt>
  </dgm:ptLst>
  <dgm:cxnLst>
    <dgm:cxn modelId="{8F94DE07-2CFF-DF40-A4CE-AFC568E0D45F}" srcId="{BEE628EA-C773-024D-984D-FB35BAA2C2DE}" destId="{C8584189-A46C-354D-AC27-424EBC08F064}" srcOrd="2" destOrd="0" parTransId="{11A6E55F-9C3D-1F4C-AA9A-F92DF9E5C761}" sibTransId="{DF3A1BD8-0937-F745-9E83-9F5E8FA666F1}"/>
    <dgm:cxn modelId="{4D6DCA16-0452-A74E-B3C6-5ACA69976347}" srcId="{BEE628EA-C773-024D-984D-FB35BAA2C2DE}" destId="{A73C8427-2C12-BF47-8902-44E55BAB5D08}" srcOrd="4" destOrd="0" parTransId="{CFA4B855-FE36-9F45-9997-63D2D105541D}" sibTransId="{D4A1394C-B1F8-B847-A37D-E712E1357F39}"/>
    <dgm:cxn modelId="{F8A4781E-1009-E646-97EF-06502BD2296D}" type="presOf" srcId="{E1CD3014-A28C-204F-83DF-F036260558E1}" destId="{607CCCE8-EBD4-9E43-A175-BB7901DACB36}" srcOrd="0" destOrd="0" presId="urn:microsoft.com/office/officeart/2005/8/layout/process4"/>
    <dgm:cxn modelId="{1077D751-2F28-154C-A145-C5A5B79392D8}" srcId="{BEE628EA-C773-024D-984D-FB35BAA2C2DE}" destId="{15BD8253-43E7-464D-A82E-A4C18E438467}" srcOrd="6" destOrd="0" parTransId="{C2F1FCED-A982-3940-87AF-99567BEE0951}" sibTransId="{63DC9E72-9484-F14F-BC31-D4DFFAF986F9}"/>
    <dgm:cxn modelId="{6208BE57-F72F-C94F-9DCF-5B75CC486B1A}" srcId="{BEE628EA-C773-024D-984D-FB35BAA2C2DE}" destId="{091BD2D1-81E2-6444-BB55-6D43541623A1}" srcOrd="1" destOrd="0" parTransId="{DEF766C5-F700-5747-A893-46049D1BE727}" sibTransId="{129B0DF0-A15C-2143-A397-F10C9A5CBFBE}"/>
    <dgm:cxn modelId="{43CA856D-4698-834E-9B8B-BD07EF5F04E0}" type="presOf" srcId="{4AC02EE5-597E-A045-94A9-9C30F66CE8F9}" destId="{4F747962-FB92-1549-ABFD-D058C9685CB0}" srcOrd="0" destOrd="0" presId="urn:microsoft.com/office/officeart/2005/8/layout/process4"/>
    <dgm:cxn modelId="{B0C1298D-E311-4A42-8D4B-DC714D13FADC}" srcId="{BEE628EA-C773-024D-984D-FB35BAA2C2DE}" destId="{E8DEF227-1534-B141-9ED8-B60261F5C170}" srcOrd="3" destOrd="0" parTransId="{11E0EFB2-D7D4-5B41-9875-63AEEA8B0517}" sibTransId="{D250F752-B6ED-4E4E-ACC9-C2F3BF6898FD}"/>
    <dgm:cxn modelId="{0B3E3A8F-E231-024C-9DA7-9AEB3FBF3A18}" type="presOf" srcId="{091BD2D1-81E2-6444-BB55-6D43541623A1}" destId="{21E239F7-4F43-5247-83C1-AA9490032739}" srcOrd="0" destOrd="0" presId="urn:microsoft.com/office/officeart/2005/8/layout/process4"/>
    <dgm:cxn modelId="{0C6F0C98-8A38-7E4D-A011-F4F0C4DBF90F}" type="presOf" srcId="{15BD8253-43E7-464D-A82E-A4C18E438467}" destId="{A356C4FC-51CC-7440-83D9-665419158B6E}" srcOrd="0" destOrd="0" presId="urn:microsoft.com/office/officeart/2005/8/layout/process4"/>
    <dgm:cxn modelId="{E8C95BA6-B28B-3241-ADD5-9927EF777CCB}" type="presOf" srcId="{E8DEF227-1534-B141-9ED8-B60261F5C170}" destId="{F5A20A83-5E37-9448-9F4F-98E0C4FE1355}" srcOrd="0" destOrd="0" presId="urn:microsoft.com/office/officeart/2005/8/layout/process4"/>
    <dgm:cxn modelId="{BAFEBEA6-3950-1544-86B1-1699623ED8A3}" type="presOf" srcId="{C8584189-A46C-354D-AC27-424EBC08F064}" destId="{14B50B63-BA7B-DA43-BAF7-9170471FE44C}" srcOrd="0" destOrd="0" presId="urn:microsoft.com/office/officeart/2005/8/layout/process4"/>
    <dgm:cxn modelId="{1307B1A9-A07D-774E-BCA9-8C162E456F2C}" srcId="{BEE628EA-C773-024D-984D-FB35BAA2C2DE}" destId="{E1CD3014-A28C-204F-83DF-F036260558E1}" srcOrd="7" destOrd="0" parTransId="{DE94B4AD-963D-824B-A9D1-0C9728F9DCC4}" sibTransId="{1CC41084-6DA6-2D44-8D3D-10F1465894F2}"/>
    <dgm:cxn modelId="{DD572AB3-36EF-3C42-8A7C-39E3C807F847}" type="presOf" srcId="{5C0A806A-B8AE-EE4B-BC15-A4BEB3A6C9CD}" destId="{B769C916-90A6-5544-BDEE-4E95402D17C0}" srcOrd="0" destOrd="0" presId="urn:microsoft.com/office/officeart/2005/8/layout/process4"/>
    <dgm:cxn modelId="{E47BB9DA-6B29-CB49-B30D-50E45958522E}" srcId="{BEE628EA-C773-024D-984D-FB35BAA2C2DE}" destId="{5C0A806A-B8AE-EE4B-BC15-A4BEB3A6C9CD}" srcOrd="5" destOrd="0" parTransId="{9D4AF5DA-63BC-3B4B-A4F2-7517ED85D17C}" sibTransId="{5CB96B6A-FF7C-3E42-92E1-2E2D521AAD09}"/>
    <dgm:cxn modelId="{E0FBA6DE-8C61-9740-9AC0-ABF593671EB5}" type="presOf" srcId="{A73C8427-2C12-BF47-8902-44E55BAB5D08}" destId="{F9D68546-F540-7941-A640-C450A341723C}" srcOrd="0" destOrd="0" presId="urn:microsoft.com/office/officeart/2005/8/layout/process4"/>
    <dgm:cxn modelId="{519B73F2-BE24-624E-8B1B-A4ED0F10B35D}" srcId="{BEE628EA-C773-024D-984D-FB35BAA2C2DE}" destId="{4AC02EE5-597E-A045-94A9-9C30F66CE8F9}" srcOrd="0" destOrd="0" parTransId="{5CBFF019-DBC6-9246-931D-1E8A21C0BC7F}" sibTransId="{C7391A59-A8BF-FB41-9F83-9FF5641D4D91}"/>
    <dgm:cxn modelId="{8D17DFF6-C2AC-E24B-B586-D25F8E3699E0}" type="presOf" srcId="{BEE628EA-C773-024D-984D-FB35BAA2C2DE}" destId="{2D753BFB-B053-ED4F-AAB6-760C3F96F11D}" srcOrd="0" destOrd="0" presId="urn:microsoft.com/office/officeart/2005/8/layout/process4"/>
    <dgm:cxn modelId="{B7670AB2-861C-9F4D-9EC6-6B77280ADB6B}" type="presParOf" srcId="{2D753BFB-B053-ED4F-AAB6-760C3F96F11D}" destId="{3C94E10C-6433-BD48-8205-1A9FE87DE908}" srcOrd="0" destOrd="0" presId="urn:microsoft.com/office/officeart/2005/8/layout/process4"/>
    <dgm:cxn modelId="{206F4D5D-469F-4F47-B4B6-72426A7E07EA}" type="presParOf" srcId="{3C94E10C-6433-BD48-8205-1A9FE87DE908}" destId="{607CCCE8-EBD4-9E43-A175-BB7901DACB36}" srcOrd="0" destOrd="0" presId="urn:microsoft.com/office/officeart/2005/8/layout/process4"/>
    <dgm:cxn modelId="{F09C5FE6-55BF-D341-9DFF-206888F9957A}" type="presParOf" srcId="{2D753BFB-B053-ED4F-AAB6-760C3F96F11D}" destId="{5FC52A95-E16C-1F4E-BFBA-3A1019A8C38E}" srcOrd="1" destOrd="0" presId="urn:microsoft.com/office/officeart/2005/8/layout/process4"/>
    <dgm:cxn modelId="{CA1710FF-F76E-154F-B193-50E41EFB6D15}" type="presParOf" srcId="{2D753BFB-B053-ED4F-AAB6-760C3F96F11D}" destId="{10211F17-34F9-AD4D-9E31-CE0E42ECF41E}" srcOrd="2" destOrd="0" presId="urn:microsoft.com/office/officeart/2005/8/layout/process4"/>
    <dgm:cxn modelId="{7C64873F-B490-0740-844A-CA4793F1A1B5}" type="presParOf" srcId="{10211F17-34F9-AD4D-9E31-CE0E42ECF41E}" destId="{A356C4FC-51CC-7440-83D9-665419158B6E}" srcOrd="0" destOrd="0" presId="urn:microsoft.com/office/officeart/2005/8/layout/process4"/>
    <dgm:cxn modelId="{4A4DCE78-1D15-B04F-A69B-764F8D0D404D}" type="presParOf" srcId="{2D753BFB-B053-ED4F-AAB6-760C3F96F11D}" destId="{587238AA-C450-C942-A6DC-9744897A1B6E}" srcOrd="3" destOrd="0" presId="urn:microsoft.com/office/officeart/2005/8/layout/process4"/>
    <dgm:cxn modelId="{27149434-2942-C84F-8465-EDE8A3D08119}" type="presParOf" srcId="{2D753BFB-B053-ED4F-AAB6-760C3F96F11D}" destId="{CACA0D8F-33AE-7C41-B64C-4AA9C3DB3A92}" srcOrd="4" destOrd="0" presId="urn:microsoft.com/office/officeart/2005/8/layout/process4"/>
    <dgm:cxn modelId="{77FE2D80-2424-CB4E-A29B-B8639156B4EA}" type="presParOf" srcId="{CACA0D8F-33AE-7C41-B64C-4AA9C3DB3A92}" destId="{B769C916-90A6-5544-BDEE-4E95402D17C0}" srcOrd="0" destOrd="0" presId="urn:microsoft.com/office/officeart/2005/8/layout/process4"/>
    <dgm:cxn modelId="{382848FD-5C87-D24D-B0D7-CB0AE45ECDFE}" type="presParOf" srcId="{2D753BFB-B053-ED4F-AAB6-760C3F96F11D}" destId="{A339D876-9875-4143-9FE7-0F4E64763068}" srcOrd="5" destOrd="0" presId="urn:microsoft.com/office/officeart/2005/8/layout/process4"/>
    <dgm:cxn modelId="{E0925C30-6F52-EB44-9BD8-1904351D1C15}" type="presParOf" srcId="{2D753BFB-B053-ED4F-AAB6-760C3F96F11D}" destId="{0F73FBBC-7CA4-9D45-8337-81C5921C5D2B}" srcOrd="6" destOrd="0" presId="urn:microsoft.com/office/officeart/2005/8/layout/process4"/>
    <dgm:cxn modelId="{652D67BA-BC63-9E4B-8C23-EDCCDE0A58BD}" type="presParOf" srcId="{0F73FBBC-7CA4-9D45-8337-81C5921C5D2B}" destId="{F9D68546-F540-7941-A640-C450A341723C}" srcOrd="0" destOrd="0" presId="urn:microsoft.com/office/officeart/2005/8/layout/process4"/>
    <dgm:cxn modelId="{2AAC8465-B726-6344-BAF2-5C10F89E4E71}" type="presParOf" srcId="{2D753BFB-B053-ED4F-AAB6-760C3F96F11D}" destId="{7280C6BB-8C24-4845-9AE9-EE7B1F7727AB}" srcOrd="7" destOrd="0" presId="urn:microsoft.com/office/officeart/2005/8/layout/process4"/>
    <dgm:cxn modelId="{4E139F0C-CC4F-F542-BCC6-34B4691EC5A0}" type="presParOf" srcId="{2D753BFB-B053-ED4F-AAB6-760C3F96F11D}" destId="{584B2D4E-70FD-A14A-931C-EF3DA6442357}" srcOrd="8" destOrd="0" presId="urn:microsoft.com/office/officeart/2005/8/layout/process4"/>
    <dgm:cxn modelId="{F5448570-BBD4-8C42-A775-1A1570429C5B}" type="presParOf" srcId="{584B2D4E-70FD-A14A-931C-EF3DA6442357}" destId="{F5A20A83-5E37-9448-9F4F-98E0C4FE1355}" srcOrd="0" destOrd="0" presId="urn:microsoft.com/office/officeart/2005/8/layout/process4"/>
    <dgm:cxn modelId="{2A7067A6-9F5F-A146-8394-7A73318F090D}" type="presParOf" srcId="{2D753BFB-B053-ED4F-AAB6-760C3F96F11D}" destId="{DFE68806-518A-1940-9E64-25E29D22175C}" srcOrd="9" destOrd="0" presId="urn:microsoft.com/office/officeart/2005/8/layout/process4"/>
    <dgm:cxn modelId="{15558B35-0646-8049-9C3A-13325E475F77}" type="presParOf" srcId="{2D753BFB-B053-ED4F-AAB6-760C3F96F11D}" destId="{FBAAD434-2603-C141-8B3B-B79E703B85D7}" srcOrd="10" destOrd="0" presId="urn:microsoft.com/office/officeart/2005/8/layout/process4"/>
    <dgm:cxn modelId="{3E1EF694-64E7-B145-8774-9983AE9A791C}" type="presParOf" srcId="{FBAAD434-2603-C141-8B3B-B79E703B85D7}" destId="{14B50B63-BA7B-DA43-BAF7-9170471FE44C}" srcOrd="0" destOrd="0" presId="urn:microsoft.com/office/officeart/2005/8/layout/process4"/>
    <dgm:cxn modelId="{88AEA00D-1ED6-C743-8874-2211626B2BF3}" type="presParOf" srcId="{2D753BFB-B053-ED4F-AAB6-760C3F96F11D}" destId="{28993EAC-236F-DB49-8CDA-5B6238AEDDAA}" srcOrd="11" destOrd="0" presId="urn:microsoft.com/office/officeart/2005/8/layout/process4"/>
    <dgm:cxn modelId="{0D83A054-DEF7-4349-AF54-7647E152702F}" type="presParOf" srcId="{2D753BFB-B053-ED4F-AAB6-760C3F96F11D}" destId="{0969024E-15D4-D64E-9C9B-7DF04F82F801}" srcOrd="12" destOrd="0" presId="urn:microsoft.com/office/officeart/2005/8/layout/process4"/>
    <dgm:cxn modelId="{A525EA1F-B1E8-E74B-BD80-02CBB6A312F8}" type="presParOf" srcId="{0969024E-15D4-D64E-9C9B-7DF04F82F801}" destId="{21E239F7-4F43-5247-83C1-AA9490032739}" srcOrd="0" destOrd="0" presId="urn:microsoft.com/office/officeart/2005/8/layout/process4"/>
    <dgm:cxn modelId="{88A61916-CED9-994F-886F-3EB819DC410C}" type="presParOf" srcId="{2D753BFB-B053-ED4F-AAB6-760C3F96F11D}" destId="{EC6B59D5-DCDF-C249-862C-9B1F5F88178F}" srcOrd="13" destOrd="0" presId="urn:microsoft.com/office/officeart/2005/8/layout/process4"/>
    <dgm:cxn modelId="{8EEACD47-E36A-344C-A1F4-5A78E724EDC0}" type="presParOf" srcId="{2D753BFB-B053-ED4F-AAB6-760C3F96F11D}" destId="{7DE4FB6C-E54C-1D4F-9A77-C1939016BCC3}" srcOrd="14" destOrd="0" presId="urn:microsoft.com/office/officeart/2005/8/layout/process4"/>
    <dgm:cxn modelId="{F5214B76-A1F5-DF49-A9E3-582BCA964D10}" type="presParOf" srcId="{7DE4FB6C-E54C-1D4F-9A77-C1939016BCC3}" destId="{4F747962-FB92-1549-ABFD-D058C9685CB0}" srcOrd="0" destOrd="0" presId="urn:microsoft.com/office/officeart/2005/8/layout/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CCCE8-EBD4-9E43-A175-BB7901DACB36}">
      <dsp:nvSpPr>
        <dsp:cNvPr id="0" name=""/>
        <dsp:cNvSpPr/>
      </dsp:nvSpPr>
      <dsp:spPr>
        <a:xfrm>
          <a:off x="0" y="4952346"/>
          <a:ext cx="8128000" cy="464343"/>
        </a:xfrm>
        <a:prstGeom prst="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FF0000"/>
              </a:solidFill>
            </a:rPr>
            <a:t>Conclusion (Key finding overall)</a:t>
          </a:r>
        </a:p>
      </dsp:txBody>
      <dsp:txXfrm>
        <a:off x="0" y="4952346"/>
        <a:ext cx="8128000" cy="464343"/>
      </dsp:txXfrm>
    </dsp:sp>
    <dsp:sp modelId="{A356C4FC-51CC-7440-83D9-665419158B6E}">
      <dsp:nvSpPr>
        <dsp:cNvPr id="0" name=""/>
        <dsp:cNvSpPr/>
      </dsp:nvSpPr>
      <dsp:spPr>
        <a:xfrm rot="10800000">
          <a:off x="0" y="4245150"/>
          <a:ext cx="8128000" cy="714160"/>
        </a:xfrm>
        <a:prstGeom prst="upArrowCallou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FF0000"/>
              </a:solidFill>
            </a:rPr>
            <a:t>Final business insights and recommendations</a:t>
          </a:r>
          <a:endParaRPr lang="en-US" sz="1600" b="1" kern="1200" dirty="0">
            <a:solidFill>
              <a:srgbClr val="FF0000"/>
            </a:solidFill>
          </a:endParaRPr>
        </a:p>
      </dsp:txBody>
      <dsp:txXfrm rot="10800000">
        <a:off x="0" y="4245150"/>
        <a:ext cx="8128000" cy="464040"/>
      </dsp:txXfrm>
    </dsp:sp>
    <dsp:sp modelId="{B769C916-90A6-5544-BDEE-4E95402D17C0}">
      <dsp:nvSpPr>
        <dsp:cNvPr id="0" name=""/>
        <dsp:cNvSpPr/>
      </dsp:nvSpPr>
      <dsp:spPr>
        <a:xfrm rot="10800000">
          <a:off x="0" y="3537954"/>
          <a:ext cx="8128000" cy="714160"/>
        </a:xfrm>
        <a:prstGeom prst="upArrowCallou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FF0000"/>
              </a:solidFill>
            </a:rPr>
            <a:t>Challenges</a:t>
          </a:r>
          <a:endParaRPr lang="en-US" sz="1600" b="1" kern="1200" dirty="0">
            <a:solidFill>
              <a:srgbClr val="FF0000"/>
            </a:solidFill>
          </a:endParaRPr>
        </a:p>
      </dsp:txBody>
      <dsp:txXfrm rot="10800000">
        <a:off x="0" y="3537954"/>
        <a:ext cx="8128000" cy="464040"/>
      </dsp:txXfrm>
    </dsp:sp>
    <dsp:sp modelId="{F9D68546-F540-7941-A640-C450A341723C}">
      <dsp:nvSpPr>
        <dsp:cNvPr id="0" name=""/>
        <dsp:cNvSpPr/>
      </dsp:nvSpPr>
      <dsp:spPr>
        <a:xfrm rot="10800000">
          <a:off x="0" y="2830759"/>
          <a:ext cx="8128000" cy="714160"/>
        </a:xfrm>
        <a:prstGeom prst="upArrowCallou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FF0000"/>
              </a:solidFill>
            </a:rPr>
            <a:t>SQL query results with screenshots or summaries</a:t>
          </a:r>
          <a:endParaRPr lang="en-US" sz="1600" b="1" kern="1200" dirty="0">
            <a:solidFill>
              <a:srgbClr val="FF0000"/>
            </a:solidFill>
          </a:endParaRPr>
        </a:p>
      </dsp:txBody>
      <dsp:txXfrm rot="10800000">
        <a:off x="0" y="2830759"/>
        <a:ext cx="8128000" cy="464040"/>
      </dsp:txXfrm>
    </dsp:sp>
    <dsp:sp modelId="{F5A20A83-5E37-9448-9F4F-98E0C4FE1355}">
      <dsp:nvSpPr>
        <dsp:cNvPr id="0" name=""/>
        <dsp:cNvSpPr/>
      </dsp:nvSpPr>
      <dsp:spPr>
        <a:xfrm rot="10800000">
          <a:off x="0" y="2123563"/>
          <a:ext cx="8128000" cy="714160"/>
        </a:xfrm>
        <a:prstGeom prst="upArrowCallou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FF0000"/>
              </a:solidFill>
            </a:rPr>
            <a:t>Key analysis questions (use cases)</a:t>
          </a:r>
          <a:endParaRPr lang="en-US" sz="1600" b="1" kern="1200" dirty="0">
            <a:solidFill>
              <a:srgbClr val="FF0000"/>
            </a:solidFill>
          </a:endParaRPr>
        </a:p>
      </dsp:txBody>
      <dsp:txXfrm rot="10800000">
        <a:off x="0" y="2123563"/>
        <a:ext cx="8128000" cy="464040"/>
      </dsp:txXfrm>
    </dsp:sp>
    <dsp:sp modelId="{14B50B63-BA7B-DA43-BAF7-9170471FE44C}">
      <dsp:nvSpPr>
        <dsp:cNvPr id="0" name=""/>
        <dsp:cNvSpPr/>
      </dsp:nvSpPr>
      <dsp:spPr>
        <a:xfrm rot="10800000">
          <a:off x="0" y="1416368"/>
          <a:ext cx="8128000" cy="714160"/>
        </a:xfrm>
        <a:prstGeom prst="upArrowCallou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en-US" sz="1600" b="1" kern="1200" dirty="0">
              <a:solidFill>
                <a:srgbClr val="FF0000"/>
              </a:solidFill>
            </a:rPr>
            <a:t>ER Diagram and schema explanation</a:t>
          </a:r>
          <a:endParaRPr lang="en-GB" sz="1600" b="1" kern="1200" dirty="0">
            <a:solidFill>
              <a:srgbClr val="FF0000"/>
            </a:solidFill>
          </a:endParaRPr>
        </a:p>
      </dsp:txBody>
      <dsp:txXfrm rot="10800000">
        <a:off x="0" y="1416368"/>
        <a:ext cx="8128000" cy="464040"/>
      </dsp:txXfrm>
    </dsp:sp>
    <dsp:sp modelId="{21E239F7-4F43-5247-83C1-AA9490032739}">
      <dsp:nvSpPr>
        <dsp:cNvPr id="0" name=""/>
        <dsp:cNvSpPr/>
      </dsp:nvSpPr>
      <dsp:spPr>
        <a:xfrm rot="10800000">
          <a:off x="0" y="709172"/>
          <a:ext cx="8128000" cy="714160"/>
        </a:xfrm>
        <a:prstGeom prst="upArrowCallou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FF0000"/>
              </a:solidFill>
            </a:rPr>
            <a:t>Tables Used in the Project</a:t>
          </a:r>
        </a:p>
      </dsp:txBody>
      <dsp:txXfrm rot="10800000">
        <a:off x="0" y="709172"/>
        <a:ext cx="8128000" cy="464040"/>
      </dsp:txXfrm>
    </dsp:sp>
    <dsp:sp modelId="{4F747962-FB92-1549-ABFD-D058C9685CB0}">
      <dsp:nvSpPr>
        <dsp:cNvPr id="0" name=""/>
        <dsp:cNvSpPr/>
      </dsp:nvSpPr>
      <dsp:spPr>
        <a:xfrm rot="10800000">
          <a:off x="0" y="1977"/>
          <a:ext cx="8128000" cy="714160"/>
        </a:xfrm>
        <a:prstGeom prst="upArrowCallou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en-US" sz="1600" b="1" kern="1200" dirty="0">
              <a:solidFill>
                <a:srgbClr val="FF0000"/>
              </a:solidFill>
            </a:rPr>
            <a:t>Objective of the Project</a:t>
          </a:r>
          <a:endParaRPr lang="en-GB" sz="1600" b="1" kern="1200" dirty="0">
            <a:solidFill>
              <a:srgbClr val="FF0000"/>
            </a:solidFill>
          </a:endParaRPr>
        </a:p>
      </dsp:txBody>
      <dsp:txXfrm rot="10800000">
        <a:off x="0" y="1977"/>
        <a:ext cx="8128000" cy="464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024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ityala-bhavani-chary" TargetMode="External"/><Relationship Id="rId2" Type="http://schemas.openxmlformats.org/officeDocument/2006/relationships/hyperlink" Target="https://www.linkedin.com/in/bhavani-chary-chityala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9365" y="-77117"/>
            <a:ext cx="12250729" cy="693511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9525A2-FA82-8311-3C11-11C52CF94A73}"/>
              </a:ext>
            </a:extLst>
          </p:cNvPr>
          <p:cNvSpPr txBox="1"/>
          <p:nvPr/>
        </p:nvSpPr>
        <p:spPr>
          <a:xfrm>
            <a:off x="7948519" y="5791718"/>
            <a:ext cx="28394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BHAVANI CHARY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F3DCA-71F4-5551-7079-67B81966A1C5}"/>
              </a:ext>
            </a:extLst>
          </p:cNvPr>
          <p:cNvSpPr txBox="1"/>
          <p:nvPr/>
        </p:nvSpPr>
        <p:spPr>
          <a:xfrm>
            <a:off x="11655846" y="634571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38F9C-E3E3-F39A-3263-71640B61DB28}"/>
              </a:ext>
            </a:extLst>
          </p:cNvPr>
          <p:cNvSpPr txBox="1"/>
          <p:nvPr/>
        </p:nvSpPr>
        <p:spPr>
          <a:xfrm>
            <a:off x="2372707" y="4186826"/>
            <a:ext cx="744658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IN" sz="2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Project </a:t>
            </a:r>
            <a:endParaRPr lang="en-IN" sz="32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IN" sz="3200" b="1" i="0" u="none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  <a:endParaRPr lang="en-IN" sz="32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BB9266-644D-3C85-648D-251E333DED91}"/>
              </a:ext>
            </a:extLst>
          </p:cNvPr>
          <p:cNvGrpSpPr/>
          <p:nvPr/>
        </p:nvGrpSpPr>
        <p:grpSpPr>
          <a:xfrm>
            <a:off x="7486708" y="2421465"/>
            <a:ext cx="4250088" cy="2286001"/>
            <a:chOff x="7639108" y="2506132"/>
            <a:chExt cx="4250088" cy="228600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500EAAB-BBFD-757B-B9CF-B5F7400BA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39108" y="2506132"/>
              <a:ext cx="4250088" cy="2286001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65DE85-77E2-EFB5-11A5-22403E02836D}"/>
                </a:ext>
              </a:extLst>
            </p:cNvPr>
            <p:cNvSpPr/>
            <p:nvPr/>
          </p:nvSpPr>
          <p:spPr>
            <a:xfrm>
              <a:off x="8365066" y="2878666"/>
              <a:ext cx="718543" cy="1064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F0A54-8995-180F-8FDF-6D76ED12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0;p4">
            <a:extLst>
              <a:ext uri="{FF2B5EF4-FFF2-40B4-BE49-F238E27FC236}">
                <a16:creationId xmlns:a16="http://schemas.microsoft.com/office/drawing/2014/main" id="{8A22F992-2C62-A050-F525-400B39064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1128" y="84861"/>
            <a:ext cx="2666082" cy="93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 :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78EFA-0DAA-FA01-48B7-117298C97948}"/>
              </a:ext>
            </a:extLst>
          </p:cNvPr>
          <p:cNvSpPr txBox="1"/>
          <p:nvPr/>
        </p:nvSpPr>
        <p:spPr>
          <a:xfrm>
            <a:off x="438150" y="1021295"/>
            <a:ext cx="9353550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Background: </a:t>
            </a:r>
            <a:r>
              <a:rPr lang="en-I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Graduated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(MBA) -2024</a:t>
            </a:r>
            <a:r>
              <a:rPr lang="en-I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Interests:</a:t>
            </a:r>
            <a:r>
              <a:rPr lang="en-I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Passionate about transforming data into insights that drive smarter decisions. Skilled in Excel, SQL, Python, and Power BI with hands-on experience in data cleaning, transformation, and visualization. I enjoy building dashboards, </a:t>
            </a:r>
            <a:r>
              <a:rPr lang="en-IN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datasets, and delivering reports that highlight key trends and opportunities.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LinkedIn profile:</a:t>
            </a:r>
            <a:r>
              <a:rPr lang="en-I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www.linkedin.com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/in/bhavani-chary-chityala/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profile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github.com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/chityala-bhavani-chary</a:t>
            </a:r>
            <a:endParaRPr lang="en-IN" sz="22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43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0;p4">
            <a:extLst>
              <a:ext uri="{FF2B5EF4-FFF2-40B4-BE49-F238E27FC236}">
                <a16:creationId xmlns:a16="http://schemas.microsoft.com/office/drawing/2014/main" id="{9BF75538-7EA6-EF88-A1F7-AC073A1E7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1128" y="84861"/>
            <a:ext cx="2666082" cy="93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: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CC5A219-CDAA-3BB8-5F36-A38AE3078E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1076557"/>
              </p:ext>
            </p:extLst>
          </p:nvPr>
        </p:nvGraphicFramePr>
        <p:xfrm>
          <a:off x="2840923" y="55307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391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292C-AD9F-E495-7BD0-FC450C23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15146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575052C-C7A2-854C-318E-9C82D63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57619"/>
            <a:ext cx="10515600" cy="4942762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Employee Management System (EMS) for efficient storage and management of employee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organize employee information, including personal details, job roles, and department assignments in a structured database.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payroll and compensation data, including salary, bonuses, and payroll calculations.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employee qualifications, skills, and professional records for better workforce management.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employee leave and absence records for accurate HR reporting and payroll adjustments.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efficient querying and analysis of employee data to support better organizational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53275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BED1B-9DFA-70DC-CBEB-0DA9A898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3C6F6-1437-2E0F-3989-8D2143CF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9990667" cy="65061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info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Project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3560A-9414-68C5-D6B0-2D8104232A7C}"/>
              </a:ext>
            </a:extLst>
          </p:cNvPr>
          <p:cNvSpPr txBox="1"/>
          <p:nvPr/>
        </p:nvSpPr>
        <p:spPr>
          <a:xfrm>
            <a:off x="106900" y="816216"/>
            <a:ext cx="1185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218B3-CF7C-B284-9D73-14743BC5E43A}"/>
              </a:ext>
            </a:extLst>
          </p:cNvPr>
          <p:cNvSpPr txBox="1"/>
          <p:nvPr/>
        </p:nvSpPr>
        <p:spPr>
          <a:xfrm>
            <a:off x="8234902" y="816216"/>
            <a:ext cx="1411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500EFB-14B3-C5A6-4C1C-19306CAD05A3}"/>
              </a:ext>
            </a:extLst>
          </p:cNvPr>
          <p:cNvSpPr txBox="1"/>
          <p:nvPr/>
        </p:nvSpPr>
        <p:spPr>
          <a:xfrm>
            <a:off x="4216399" y="799288"/>
            <a:ext cx="155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Department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8D14E4-8727-53AE-1756-1EC1988280DF}"/>
              </a:ext>
            </a:extLst>
          </p:cNvPr>
          <p:cNvSpPr txBox="1"/>
          <p:nvPr/>
        </p:nvSpPr>
        <p:spPr>
          <a:xfrm>
            <a:off x="-79367" y="3471332"/>
            <a:ext cx="155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28283E-4A8F-CFFF-BC34-6819F2B44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2" y="1209244"/>
            <a:ext cx="3539068" cy="2108200"/>
          </a:xfrm>
          <a:prstGeom prst="rect">
            <a:avLst/>
          </a:prstGeom>
        </p:spPr>
      </p:pic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4E5B01D2-FB83-C452-91FB-9669943C0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466" y="1209244"/>
            <a:ext cx="3539068" cy="144775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5E1E08-72CC-6FA5-3811-178FFDD68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844" y="1194080"/>
            <a:ext cx="3103056" cy="11938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24B95D-A096-126F-9576-E9119287A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32" y="3937229"/>
            <a:ext cx="3539068" cy="1879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A2AB53-EF29-9394-3E57-2F06626F5C7A}"/>
              </a:ext>
            </a:extLst>
          </p:cNvPr>
          <p:cNvSpPr txBox="1"/>
          <p:nvPr/>
        </p:nvSpPr>
        <p:spPr>
          <a:xfrm>
            <a:off x="4216398" y="3471332"/>
            <a:ext cx="155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</a:t>
            </a:r>
          </a:p>
        </p:txBody>
      </p:sp>
      <p:pic>
        <p:nvPicPr>
          <p:cNvPr id="16" name="Picture 15" descr="A screenshot of a table&#10;&#10;AI-generated content may be incorrect.">
            <a:extLst>
              <a:ext uri="{FF2B5EF4-FFF2-40B4-BE49-F238E27FC236}">
                <a16:creationId xmlns:a16="http://schemas.microsoft.com/office/drawing/2014/main" id="{83807890-4D02-436F-1F72-FFAB9CDA0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466" y="3909525"/>
            <a:ext cx="3539068" cy="1333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7EEB60-48A9-97A3-55AC-0EB28B44D67A}"/>
              </a:ext>
            </a:extLst>
          </p:cNvPr>
          <p:cNvSpPr txBox="1"/>
          <p:nvPr/>
        </p:nvSpPr>
        <p:spPr>
          <a:xfrm>
            <a:off x="8663507" y="3471331"/>
            <a:ext cx="155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SalaryBonus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 screenshot of a table&#10;&#10;AI-generated content may be incorrect.">
            <a:extLst>
              <a:ext uri="{FF2B5EF4-FFF2-40B4-BE49-F238E27FC236}">
                <a16:creationId xmlns:a16="http://schemas.microsoft.com/office/drawing/2014/main" id="{CDFD2A66-7B73-F020-BE47-F92D33934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3507" y="3937229"/>
            <a:ext cx="33909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1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FBD2-FC44-B60F-4CE2-B4256673C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A92F-BCED-89A6-D13B-B558B10C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9990667" cy="96740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Project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6DE0ED-566C-18A2-547F-6450DDAB3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2" y="1112666"/>
            <a:ext cx="5767938" cy="21808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54DE29-3A9A-8007-E5BE-99ABEE650FAD}"/>
              </a:ext>
            </a:extLst>
          </p:cNvPr>
          <p:cNvSpPr txBox="1"/>
          <p:nvPr/>
        </p:nvSpPr>
        <p:spPr>
          <a:xfrm>
            <a:off x="2201334" y="850198"/>
            <a:ext cx="1185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5BE7F-A0A2-FBC1-4273-EC7C51A5A20D}"/>
              </a:ext>
            </a:extLst>
          </p:cNvPr>
          <p:cNvSpPr txBox="1"/>
          <p:nvPr/>
        </p:nvSpPr>
        <p:spPr>
          <a:xfrm>
            <a:off x="2088101" y="3471332"/>
            <a:ext cx="1411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23F3E3-C166-4AD5-BE99-E006AC6AB8D5}"/>
              </a:ext>
            </a:extLst>
          </p:cNvPr>
          <p:cNvSpPr txBox="1"/>
          <p:nvPr/>
        </p:nvSpPr>
        <p:spPr>
          <a:xfrm>
            <a:off x="8805334" y="850197"/>
            <a:ext cx="155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Department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E231EA-D447-55D7-B679-38BC9E1C8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694" y="1112666"/>
            <a:ext cx="5767938" cy="21808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9C45CE-F20C-BE54-BC02-8C75B60DB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32" y="3779109"/>
            <a:ext cx="5767938" cy="29264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85B37BE-79F8-DCDE-E6E9-FFAB6020E782}"/>
              </a:ext>
            </a:extLst>
          </p:cNvPr>
          <p:cNvSpPr txBox="1"/>
          <p:nvPr/>
        </p:nvSpPr>
        <p:spPr>
          <a:xfrm>
            <a:off x="8940801" y="3474861"/>
            <a:ext cx="155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60FECD7-534A-146C-779F-FEEB50689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694" y="3779109"/>
            <a:ext cx="5865306" cy="292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3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AB16-6668-43F4-9DA4-0CEBCDDD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9ADD-A960-8D50-48D6-4A7A7A4C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9990667" cy="96740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Project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919EE-30B7-762B-0EC4-F2DD98B20208}"/>
              </a:ext>
            </a:extLst>
          </p:cNvPr>
          <p:cNvSpPr txBox="1"/>
          <p:nvPr/>
        </p:nvSpPr>
        <p:spPr>
          <a:xfrm>
            <a:off x="7918468" y="985662"/>
            <a:ext cx="1411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Salary bonus</a:t>
            </a:r>
            <a:endParaRPr lang="en-IN" dirty="0"/>
          </a:p>
        </p:txBody>
      </p:sp>
      <p:pic>
        <p:nvPicPr>
          <p:cNvPr id="17" name="Picture 16" descr="A screenshot of a table&#10;&#10;AI-generated content may be incorrect.">
            <a:extLst>
              <a:ext uri="{FF2B5EF4-FFF2-40B4-BE49-F238E27FC236}">
                <a16:creationId xmlns:a16="http://schemas.microsoft.com/office/drawing/2014/main" id="{DC7B94F9-0E6C-D03A-EC8A-791C2C5D9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8" y="1293438"/>
            <a:ext cx="6096002" cy="38910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C9CB74-4811-7661-535F-27176699E78F}"/>
              </a:ext>
            </a:extLst>
          </p:cNvPr>
          <p:cNvSpPr txBox="1"/>
          <p:nvPr/>
        </p:nvSpPr>
        <p:spPr>
          <a:xfrm>
            <a:off x="1841537" y="985662"/>
            <a:ext cx="1411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52203-C852-BCEC-9E36-E7554414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5" y="1293437"/>
            <a:ext cx="5302249" cy="389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3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F13A-4ADB-3753-3178-20998372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0AB4-2E78-2D3D-06BC-BAFE060D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schema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8BECEB-0F6F-35ED-ACDE-28936F97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8"/>
          <a:stretch>
            <a:fillRect/>
          </a:stretch>
        </p:blipFill>
        <p:spPr>
          <a:xfrm>
            <a:off x="389092" y="1004342"/>
            <a:ext cx="6604750" cy="5682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4D364B-3510-D451-64CD-72AAE8BB8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308" y="997745"/>
            <a:ext cx="3369733" cy="514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7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177F5-FB1C-FCF4-2F27-085F87BB3B4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63600" y="1522015"/>
            <a:ext cx="8788400" cy="3813969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EMPLOYEE INSIGHTS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JOB ROLE AND DEPARTMENT ANALYSIS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QUALIFICATION AND SKILLS ANALYSIS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LEAVE AND ABSENCE PATTERNS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PAYROLL AND COMPENSATION ANALYSIS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DEPARTMENTAL STRUCTURE ANALYSIS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C4B9CE-1548-9771-B840-88DA08271D4E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89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(use cases)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2179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4643E66-B8BE-4D09-B657-638A4928892D}"/>
              </a:ext>
            </a:extLst>
          </p:cNvPr>
          <p:cNvSpPr txBox="1"/>
          <p:nvPr/>
        </p:nvSpPr>
        <p:spPr>
          <a:xfrm>
            <a:off x="3359150" y="922629"/>
            <a:ext cx="4529666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2800" b="1" i="0" u="sng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EMPLOYEE INSIGHTS</a:t>
            </a:r>
            <a:endParaRPr lang="en-US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A close up of a text&#10;&#10;AI-generated content may be incorrect.">
            <a:extLst>
              <a:ext uri="{FF2B5EF4-FFF2-40B4-BE49-F238E27FC236}">
                <a16:creationId xmlns:a16="http://schemas.microsoft.com/office/drawing/2014/main" id="{B2AF908E-5EAF-AD65-E33A-091000260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599" y="2832100"/>
            <a:ext cx="5226051" cy="835457"/>
          </a:xfrm>
          <a:prstGeom prst="rect">
            <a:avLst/>
          </a:prstGeom>
        </p:spPr>
      </p:pic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49DCB951-934D-785B-92F7-1B83D7902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816" y="2599665"/>
            <a:ext cx="3372291" cy="106789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34FB79D-4AB7-E7E3-A898-96E31A321642}"/>
              </a:ext>
            </a:extLst>
          </p:cNvPr>
          <p:cNvSpPr txBox="1"/>
          <p:nvPr/>
        </p:nvSpPr>
        <p:spPr>
          <a:xfrm>
            <a:off x="247650" y="1969223"/>
            <a:ext cx="6788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Question:</a:t>
            </a:r>
            <a:r>
              <a:rPr lang="en-I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1.1 Which video categories generate the most views?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8EF2D-E87A-C1A4-B58D-568F46477EEE}"/>
              </a:ext>
            </a:extLst>
          </p:cNvPr>
          <p:cNvSpPr txBox="1"/>
          <p:nvPr/>
        </p:nvSpPr>
        <p:spPr>
          <a:xfrm>
            <a:off x="247649" y="5389601"/>
            <a:ext cx="11434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currently maintains records for 60 employees in the database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CF6880-D7A2-69DC-1B2F-604503A6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12500" cy="81607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SQL query results with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screenshots or summaries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751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06BEE-44F5-2F2C-E3F9-E1D5840D64CD}"/>
              </a:ext>
            </a:extLst>
          </p:cNvPr>
          <p:cNvSpPr txBox="1"/>
          <p:nvPr/>
        </p:nvSpPr>
        <p:spPr>
          <a:xfrm>
            <a:off x="620182" y="566175"/>
            <a:ext cx="109622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Which departments have the highest number of employees?</a:t>
            </a:r>
            <a:endParaRPr lang="en-IN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2054FA-D331-6299-AEC6-6CE03941F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232153"/>
            <a:ext cx="5539964" cy="23831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2EE637-3E06-73FC-B9A6-BCF2EB0A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216" y="1232153"/>
            <a:ext cx="3488013" cy="23831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8E80B2-6A1E-D6C9-0791-03FDB880E857}"/>
              </a:ext>
            </a:extLst>
          </p:cNvPr>
          <p:cNvSpPr txBox="1"/>
          <p:nvPr/>
        </p:nvSpPr>
        <p:spPr>
          <a:xfrm>
            <a:off x="247649" y="5389601"/>
            <a:ext cx="11434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and IT departments have the highest workforce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employees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27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43E6-AA0F-A0A4-F9C3-18DB40DC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66610D-3017-2959-5E15-5F285E62F068}"/>
              </a:ext>
            </a:extLst>
          </p:cNvPr>
          <p:cNvSpPr txBox="1"/>
          <p:nvPr/>
        </p:nvSpPr>
        <p:spPr>
          <a:xfrm>
            <a:off x="620182" y="566175"/>
            <a:ext cx="10976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What is the average salary per department?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3BAA3-2FFE-37E3-64B7-7F78CD19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16" y="1790132"/>
            <a:ext cx="6766311" cy="1966951"/>
          </a:xfrm>
          <a:prstGeom prst="rect">
            <a:avLst/>
          </a:prstGeom>
        </p:spPr>
      </p:pic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D33F40F0-4C6A-0D2E-CD9A-EA593C302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117" y="1430582"/>
            <a:ext cx="3213060" cy="2686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027788-E139-560C-9BFB-ED9AEB715C8F}"/>
              </a:ext>
            </a:extLst>
          </p:cNvPr>
          <p:cNvSpPr txBox="1"/>
          <p:nvPr/>
        </p:nvSpPr>
        <p:spPr>
          <a:xfrm>
            <a:off x="247649" y="5389601"/>
            <a:ext cx="11434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payroll across departments ranges roughly between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~45K and ~47K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6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7641A-6001-FA56-36F9-7723C0A7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D3F1C8-07CB-B1CB-BD69-3F2B721DDE8A}"/>
              </a:ext>
            </a:extLst>
          </p:cNvPr>
          <p:cNvSpPr txBox="1"/>
          <p:nvPr/>
        </p:nvSpPr>
        <p:spPr>
          <a:xfrm>
            <a:off x="620182" y="566175"/>
            <a:ext cx="11267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1.4. Who are the top 5 highest-paid employees?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66773-E11F-7B12-B9D5-7BF2CFA1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683" y="1420800"/>
            <a:ext cx="5524500" cy="2705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CB039F-8C0B-BB3C-C2C6-CC7CA5089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462" y="1420800"/>
            <a:ext cx="4051738" cy="2157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C9BE87-6607-1901-B1C9-2F4C625BD53E}"/>
              </a:ext>
            </a:extLst>
          </p:cNvPr>
          <p:cNvSpPr txBox="1"/>
          <p:nvPr/>
        </p:nvSpPr>
        <p:spPr>
          <a:xfrm>
            <a:off x="247649" y="5389601"/>
            <a:ext cx="1143427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highest-paid employees include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 Clark, Jack Thomas, Bruce Roberts, Nathan Martin, and Karen Jackson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earning about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55K–56K total payroll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14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D22E-5C04-D606-C40F-D34BE8B8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DF0A39-C882-ABA0-5911-921C2F4D6E40}"/>
              </a:ext>
            </a:extLst>
          </p:cNvPr>
          <p:cNvSpPr txBox="1"/>
          <p:nvPr/>
        </p:nvSpPr>
        <p:spPr>
          <a:xfrm>
            <a:off x="620182" y="566175"/>
            <a:ext cx="9564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1.5. What is the total salary expenditure across the company?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C114F-64F4-1406-EA34-CB720CACD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036" y="1420800"/>
            <a:ext cx="7449928" cy="69177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FF3A30-60D5-329C-72EA-65E97ECF4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957" y="2586123"/>
            <a:ext cx="3070085" cy="8311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CB782D-B517-D078-4384-201BF55B70D8}"/>
              </a:ext>
            </a:extLst>
          </p:cNvPr>
          <p:cNvSpPr txBox="1"/>
          <p:nvPr/>
        </p:nvSpPr>
        <p:spPr>
          <a:xfrm>
            <a:off x="247649" y="5389601"/>
            <a:ext cx="1143427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spends approximately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2,778,000 in total payroll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the overall compensation cost for all employees.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45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AC1FE-423C-366E-5DE0-A7B230312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9B24CB-4B3B-D34C-7700-C5A74E149939}"/>
              </a:ext>
            </a:extLst>
          </p:cNvPr>
          <p:cNvSpPr txBox="1"/>
          <p:nvPr/>
        </p:nvSpPr>
        <p:spPr>
          <a:xfrm>
            <a:off x="620181" y="1133737"/>
            <a:ext cx="8505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2.1. How many different job roles exist in each department?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27A270-0878-7C18-5757-8E1B3C76AA4C}"/>
              </a:ext>
            </a:extLst>
          </p:cNvPr>
          <p:cNvSpPr txBox="1"/>
          <p:nvPr/>
        </p:nvSpPr>
        <p:spPr>
          <a:xfrm>
            <a:off x="2081329" y="259093"/>
            <a:ext cx="8029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sng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JOB ROLE AND DEPARTMENT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22567-CE04-A7E1-7894-987681186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53" y="1682698"/>
            <a:ext cx="6223000" cy="1508371"/>
          </a:xfrm>
          <a:prstGeom prst="rect">
            <a:avLst/>
          </a:prstGeom>
        </p:spPr>
      </p:pic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7D634DD4-AD91-8915-BC6F-79F074B9C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513" y="1584727"/>
            <a:ext cx="3091818" cy="27076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687865-F5D2-635B-19EA-BB131C39C113}"/>
              </a:ext>
            </a:extLst>
          </p:cNvPr>
          <p:cNvSpPr txBox="1"/>
          <p:nvPr/>
        </p:nvSpPr>
        <p:spPr>
          <a:xfrm>
            <a:off x="247649" y="5389601"/>
            <a:ext cx="11434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Finance department has the highest role diversity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different job roles</a:t>
            </a:r>
            <a:endParaRPr lang="en-IN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52CD-DE1A-316B-DBB1-0C6E287F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75F852-969D-166C-852F-5C4EAA5E6E73}"/>
              </a:ext>
            </a:extLst>
          </p:cNvPr>
          <p:cNvSpPr txBox="1"/>
          <p:nvPr/>
        </p:nvSpPr>
        <p:spPr>
          <a:xfrm>
            <a:off x="620182" y="566175"/>
            <a:ext cx="8971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What is the average salary range per department?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BAFD6-BE77-611D-0FC3-80FF940DC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67" y="1420800"/>
            <a:ext cx="4969333" cy="2262026"/>
          </a:xfrm>
          <a:prstGeom prst="rect">
            <a:avLst/>
          </a:prstGeom>
        </p:spPr>
      </p:pic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3C9D5ED8-5A31-4741-EC49-5D8718058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686" y="1420800"/>
            <a:ext cx="2684366" cy="25988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220B86-95C2-157B-4E03-270F40DB0EDD}"/>
              </a:ext>
            </a:extLst>
          </p:cNvPr>
          <p:cNvSpPr txBox="1"/>
          <p:nvPr/>
        </p:nvSpPr>
        <p:spPr>
          <a:xfrm>
            <a:off x="247649" y="5389601"/>
            <a:ext cx="1143427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salary structures vary across departments,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and Engineering showing the highest average salary ranges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0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3A91-3A4F-293C-378F-7C2DFD4A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4186DB6-6CAD-6D20-6A64-FDE9385E3416}"/>
              </a:ext>
            </a:extLst>
          </p:cNvPr>
          <p:cNvSpPr txBox="1"/>
          <p:nvPr/>
        </p:nvSpPr>
        <p:spPr>
          <a:xfrm>
            <a:off x="620182" y="566175"/>
            <a:ext cx="6999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Which job roles offer the highest salary?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mputer code with text&#10;&#10;AI-generated content may be incorrect.">
            <a:extLst>
              <a:ext uri="{FF2B5EF4-FFF2-40B4-BE49-F238E27FC236}">
                <a16:creationId xmlns:a16="http://schemas.microsoft.com/office/drawing/2014/main" id="{E7C79FE7-497F-5ABA-A93C-9B82D7CF4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496" y="1420800"/>
            <a:ext cx="4621504" cy="2698571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6518AD66-49F1-73E0-6675-2CF73F170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9" y="2369741"/>
            <a:ext cx="2908622" cy="800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6C46C7-95DE-868F-D359-330C8AB01C02}"/>
              </a:ext>
            </a:extLst>
          </p:cNvPr>
          <p:cNvSpPr txBox="1"/>
          <p:nvPr/>
        </p:nvSpPr>
        <p:spPr>
          <a:xfrm>
            <a:off x="247649" y="5389601"/>
            <a:ext cx="11434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Director role offers the highest salary (170,000)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all job roles in the organization.</a:t>
            </a:r>
            <a:endParaRPr lang="en-IN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96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D49C-3B9D-14B3-602F-F0DDBC78F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037692-BEC6-1C81-C2DD-202B8FCE36F5}"/>
              </a:ext>
            </a:extLst>
          </p:cNvPr>
          <p:cNvSpPr txBox="1"/>
          <p:nvPr/>
        </p:nvSpPr>
        <p:spPr>
          <a:xfrm>
            <a:off x="620182" y="566175"/>
            <a:ext cx="9027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Which departments have the highest total salary allocation?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mputer code with text&#10;&#10;AI-generated content may be incorrect.">
            <a:extLst>
              <a:ext uri="{FF2B5EF4-FFF2-40B4-BE49-F238E27FC236}">
                <a16:creationId xmlns:a16="http://schemas.microsoft.com/office/drawing/2014/main" id="{CF455ADC-0CC0-4F6A-4CCE-00EDE6343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411" y="1420800"/>
            <a:ext cx="5626772" cy="2469891"/>
          </a:xfrm>
          <a:prstGeom prst="rect">
            <a:avLst/>
          </a:prstGeom>
        </p:spPr>
      </p:pic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DE6F144C-15FA-0108-23FF-6DD31A15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861" y="1420800"/>
            <a:ext cx="2835984" cy="2330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7E67A1-2558-399F-E349-6D2EA8044245}"/>
              </a:ext>
            </a:extLst>
          </p:cNvPr>
          <p:cNvSpPr txBox="1"/>
          <p:nvPr/>
        </p:nvSpPr>
        <p:spPr>
          <a:xfrm>
            <a:off x="247649" y="5389601"/>
            <a:ext cx="11434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Finance department has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total salary allocation (~651K)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larger payroll 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25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DE2F5-0518-A9AB-2A25-C717D12D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DC5FA8-6E1F-6D2E-3A06-3C0B754C34E2}"/>
              </a:ext>
            </a:extLst>
          </p:cNvPr>
          <p:cNvSpPr txBox="1"/>
          <p:nvPr/>
        </p:nvSpPr>
        <p:spPr>
          <a:xfrm>
            <a:off x="620181" y="1133737"/>
            <a:ext cx="8505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How many employees have at least one qualification listed?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32478-BF14-3AFC-EFC6-C9741E3182CB}"/>
              </a:ext>
            </a:extLst>
          </p:cNvPr>
          <p:cNvSpPr txBox="1"/>
          <p:nvPr/>
        </p:nvSpPr>
        <p:spPr>
          <a:xfrm>
            <a:off x="2081329" y="259093"/>
            <a:ext cx="8029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QUALIFICATION AND SKILLS ANALYSIS</a:t>
            </a:r>
            <a:endParaRPr lang="en-IN" sz="2800" b="1" i="0" u="sng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78872-B756-C964-E310-D7053DB0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86" y="1946826"/>
            <a:ext cx="8789227" cy="684407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F2B907-1FE8-098F-96B0-7B86675E8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397" y="2904310"/>
            <a:ext cx="3627205" cy="10493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0B565F-3B10-B9D3-D42A-3EE16E24387D}"/>
              </a:ext>
            </a:extLst>
          </p:cNvPr>
          <p:cNvSpPr txBox="1"/>
          <p:nvPr/>
        </p:nvSpPr>
        <p:spPr>
          <a:xfrm>
            <a:off x="247649" y="5389601"/>
            <a:ext cx="11434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employees have at least one qualification recorded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complete skill documentation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36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8FD6-B3CC-3189-08F7-8B9D2D1D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792E56-C6F3-DF44-BC6A-CA1D1F8596EC}"/>
              </a:ext>
            </a:extLst>
          </p:cNvPr>
          <p:cNvSpPr txBox="1"/>
          <p:nvPr/>
        </p:nvSpPr>
        <p:spPr>
          <a:xfrm>
            <a:off x="620182" y="566175"/>
            <a:ext cx="8411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Which positions require the most qualifications?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74EA1A-CC2D-2611-BB49-242B7992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967" y="1420800"/>
            <a:ext cx="6441199" cy="2527559"/>
          </a:xfrm>
          <a:prstGeom prst="rect">
            <a:avLst/>
          </a:prstGeom>
        </p:spPr>
      </p:pic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D1560D98-0594-593B-3BC2-428D44F9F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196" y="1420799"/>
            <a:ext cx="3321697" cy="29568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DCAE97-53FC-BE78-2107-E66B77BD5138}"/>
              </a:ext>
            </a:extLst>
          </p:cNvPr>
          <p:cNvSpPr txBox="1"/>
          <p:nvPr/>
        </p:nvSpPr>
        <p:spPr>
          <a:xfrm>
            <a:off x="247649" y="5389601"/>
            <a:ext cx="11546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position typically requires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key qualification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clearly defined job skill requirements.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10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6689-896F-9955-AC67-AD080524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AF7ACC-906D-E699-0DC8-2EEF6F210C60}"/>
              </a:ext>
            </a:extLst>
          </p:cNvPr>
          <p:cNvSpPr txBox="1"/>
          <p:nvPr/>
        </p:nvSpPr>
        <p:spPr>
          <a:xfrm>
            <a:off x="620182" y="566175"/>
            <a:ext cx="8691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Which employees have the highest number of qualifications?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25848-59BB-C8F8-57AD-1FC0CD978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82" y="1295399"/>
            <a:ext cx="4663017" cy="2494863"/>
          </a:xfrm>
          <a:prstGeom prst="rect">
            <a:avLst/>
          </a:prstGeom>
        </p:spPr>
      </p:pic>
      <p:pic>
        <p:nvPicPr>
          <p:cNvPr id="9" name="Picture 8" descr="A screenshot of a table&#10;&#10;AI-generated content may be incorrect.">
            <a:extLst>
              <a:ext uri="{FF2B5EF4-FFF2-40B4-BE49-F238E27FC236}">
                <a16:creationId xmlns:a16="http://schemas.microsoft.com/office/drawing/2014/main" id="{DE66F4B7-14AC-272A-C380-5EBC3F331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399" y="1295400"/>
            <a:ext cx="3977104" cy="24948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4AE34C-4185-E13C-BF3F-C55B7649C533}"/>
              </a:ext>
            </a:extLst>
          </p:cNvPr>
          <p:cNvSpPr txBox="1"/>
          <p:nvPr/>
        </p:nvSpPr>
        <p:spPr>
          <a:xfrm>
            <a:off x="247649" y="5389601"/>
            <a:ext cx="11546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employees currently hold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qualification each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standardized hiring criteria across roles.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82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D005F-CDD9-F583-A520-4D5D21A5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134935-8102-69FE-BA3C-B0507F203AC4}"/>
              </a:ext>
            </a:extLst>
          </p:cNvPr>
          <p:cNvSpPr txBox="1"/>
          <p:nvPr/>
        </p:nvSpPr>
        <p:spPr>
          <a:xfrm>
            <a:off x="620181" y="1133737"/>
            <a:ext cx="75534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Which year had the most employees taking leave?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F7953-864D-1CD6-ACD6-0AD112506B06}"/>
              </a:ext>
            </a:extLst>
          </p:cNvPr>
          <p:cNvSpPr txBox="1"/>
          <p:nvPr/>
        </p:nvSpPr>
        <p:spPr>
          <a:xfrm>
            <a:off x="2816591" y="277754"/>
            <a:ext cx="65588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LEAVE AND ABSENCE PATTERNS</a:t>
            </a:r>
            <a:endParaRPr lang="en-IN" sz="2800" b="1" i="0" u="sng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7A6056F9-AE78-57C9-331F-18412ECD1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254" y="1928165"/>
            <a:ext cx="4537746" cy="1857975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1516484A-B582-DDCF-C30E-04DFA89D7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616" y="2390253"/>
            <a:ext cx="2342686" cy="9337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DCD69D-58DC-69C1-716F-E946029AC8B8}"/>
              </a:ext>
            </a:extLst>
          </p:cNvPr>
          <p:cNvSpPr txBox="1"/>
          <p:nvPr/>
        </p:nvSpPr>
        <p:spPr>
          <a:xfrm>
            <a:off x="247649" y="5389601"/>
            <a:ext cx="11546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year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recorded the highest leave activity with 60 leave entries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0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9976C-9821-3B71-588E-C2828A32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D9E60F-03FD-CF65-4DC4-D02376D80B1C}"/>
              </a:ext>
            </a:extLst>
          </p:cNvPr>
          <p:cNvSpPr txBox="1"/>
          <p:nvPr/>
        </p:nvSpPr>
        <p:spPr>
          <a:xfrm>
            <a:off x="620182" y="566175"/>
            <a:ext cx="10856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What is the average number of leave days taken by its employees per department?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118EF08-4212-187D-AAF4-6B6EAC275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416" y="1214146"/>
            <a:ext cx="5237995" cy="30861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F8C49B-1397-25B3-B3B3-A8FB823F9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59" y="1542098"/>
            <a:ext cx="2730025" cy="24301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69C79F-8D17-09BE-0854-8A1B44CAD85B}"/>
              </a:ext>
            </a:extLst>
          </p:cNvPr>
          <p:cNvSpPr txBox="1"/>
          <p:nvPr/>
        </p:nvSpPr>
        <p:spPr>
          <a:xfrm>
            <a:off x="247649" y="5389601"/>
            <a:ext cx="115462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average, employees across departments take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one leave day each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balanced leave distribution.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95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7D15B-9889-6C7F-B429-241AEA096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4AE6FE-4DD6-DA04-E43B-00FF2B8ADF37}"/>
              </a:ext>
            </a:extLst>
          </p:cNvPr>
          <p:cNvSpPr txBox="1"/>
          <p:nvPr/>
        </p:nvSpPr>
        <p:spPr>
          <a:xfrm>
            <a:off x="620182" y="566175"/>
            <a:ext cx="8411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Which employees have taken the most leaves?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mputer code with text&#10;&#10;AI-generated content may be incorrect.">
            <a:extLst>
              <a:ext uri="{FF2B5EF4-FFF2-40B4-BE49-F238E27FC236}">
                <a16:creationId xmlns:a16="http://schemas.microsoft.com/office/drawing/2014/main" id="{353DAD58-320A-DDFF-2019-34C272F9B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07" y="1420800"/>
            <a:ext cx="5143393" cy="259699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433EF3-E346-12D1-1B60-96CA5BEF0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067" y="1409347"/>
            <a:ext cx="3405932" cy="2608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87F67-3023-674E-9C24-987E1A8E4EB8}"/>
              </a:ext>
            </a:extLst>
          </p:cNvPr>
          <p:cNvSpPr txBox="1"/>
          <p:nvPr/>
        </p:nvSpPr>
        <p:spPr>
          <a:xfrm>
            <a:off x="247649" y="5389601"/>
            <a:ext cx="11546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records indicate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leave counts across employees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6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C98E0-A931-E40F-7511-83A960B0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6E4F11-8765-F57D-9403-149AB4FD7DCD}"/>
              </a:ext>
            </a:extLst>
          </p:cNvPr>
          <p:cNvSpPr txBox="1"/>
          <p:nvPr/>
        </p:nvSpPr>
        <p:spPr>
          <a:xfrm>
            <a:off x="620182" y="566175"/>
            <a:ext cx="8822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4.4 What is the total number of leave days taken company-wide?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word&#10;&#10;AI-generated content may be incorrect.">
            <a:extLst>
              <a:ext uri="{FF2B5EF4-FFF2-40B4-BE49-F238E27FC236}">
                <a16:creationId xmlns:a16="http://schemas.microsoft.com/office/drawing/2014/main" id="{29C1A0C6-A094-ABF7-E9F5-B2FDCE4A1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352" y="1420800"/>
            <a:ext cx="4939296" cy="79988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8519A2-0813-1B3F-43D1-C1D4B9870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535" y="2373107"/>
            <a:ext cx="2092930" cy="1055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966315-463C-9BB8-A6D2-9E0676CA61EE}"/>
              </a:ext>
            </a:extLst>
          </p:cNvPr>
          <p:cNvSpPr txBox="1"/>
          <p:nvPr/>
        </p:nvSpPr>
        <p:spPr>
          <a:xfrm>
            <a:off x="247649" y="5389601"/>
            <a:ext cx="11546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recorded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total leave days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overall employee absence during the period.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30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49113-C493-9603-2F00-0C378FD4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E76B177-419C-F763-3FFA-8F41523207FD}"/>
              </a:ext>
            </a:extLst>
          </p:cNvPr>
          <p:cNvSpPr txBox="1"/>
          <p:nvPr/>
        </p:nvSpPr>
        <p:spPr>
          <a:xfrm>
            <a:off x="620182" y="566175"/>
            <a:ext cx="8411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 How do leave days correlate with payroll amounts?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mputer code with text&#10;&#10;AI-generated content may be incorrect.">
            <a:extLst>
              <a:ext uri="{FF2B5EF4-FFF2-40B4-BE49-F238E27FC236}">
                <a16:creationId xmlns:a16="http://schemas.microsoft.com/office/drawing/2014/main" id="{5FDCB5F1-932E-DB4E-2A1E-F14B4432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321" y="1420800"/>
            <a:ext cx="5275862" cy="3049037"/>
          </a:xfrm>
          <a:prstGeom prst="rect">
            <a:avLst/>
          </a:prstGeom>
        </p:spPr>
      </p:pic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D951B7A8-F46B-250D-CB4F-01D391115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118" y="1420800"/>
            <a:ext cx="4162130" cy="27473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3EC092-AE6E-485E-8036-69E099271223}"/>
              </a:ext>
            </a:extLst>
          </p:cNvPr>
          <p:cNvSpPr txBox="1"/>
          <p:nvPr/>
        </p:nvSpPr>
        <p:spPr>
          <a:xfrm>
            <a:off x="247649" y="5389601"/>
            <a:ext cx="115462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values remain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 consistent despite leave usage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leave deductions have minimal impact on total payroll.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66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0D72-3577-A11E-70AC-543054C7D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46E0E4-FFCE-2AE7-CA40-9B65CED44FFF}"/>
              </a:ext>
            </a:extLst>
          </p:cNvPr>
          <p:cNvSpPr txBox="1"/>
          <p:nvPr/>
        </p:nvSpPr>
        <p:spPr>
          <a:xfrm>
            <a:off x="620181" y="1133737"/>
            <a:ext cx="75534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 What is the total monthly payroll processed?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59EEB-4026-7326-23CE-CDE66BDC4050}"/>
              </a:ext>
            </a:extLst>
          </p:cNvPr>
          <p:cNvSpPr txBox="1"/>
          <p:nvPr/>
        </p:nvSpPr>
        <p:spPr>
          <a:xfrm>
            <a:off x="1961911" y="296415"/>
            <a:ext cx="82681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PAYROLL AND COMPENSATION ANALYSIS</a:t>
            </a:r>
            <a:endParaRPr lang="en-IN" sz="2800" b="1" i="0" u="sng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-up of a number&#10;&#10;AI-generated content may be incorrect.">
            <a:extLst>
              <a:ext uri="{FF2B5EF4-FFF2-40B4-BE49-F238E27FC236}">
                <a16:creationId xmlns:a16="http://schemas.microsoft.com/office/drawing/2014/main" id="{A19981BD-F24F-437E-1144-6C6B86A9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015" y="1909503"/>
            <a:ext cx="5249168" cy="1953369"/>
          </a:xfrm>
          <a:prstGeom prst="rect">
            <a:avLst/>
          </a:prstGeom>
        </p:spPr>
      </p:pic>
      <p:pic>
        <p:nvPicPr>
          <p:cNvPr id="9" name="Picture 8" descr="A screenshot of a number&#10;&#10;AI-generated content may be incorrect.">
            <a:extLst>
              <a:ext uri="{FF2B5EF4-FFF2-40B4-BE49-F238E27FC236}">
                <a16:creationId xmlns:a16="http://schemas.microsoft.com/office/drawing/2014/main" id="{24A7564E-9392-F290-34FA-9B8694DF7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616" y="1909504"/>
            <a:ext cx="3816972" cy="11216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345E6B-A693-828A-8BB0-31B637647627}"/>
              </a:ext>
            </a:extLst>
          </p:cNvPr>
          <p:cNvSpPr txBox="1"/>
          <p:nvPr/>
        </p:nvSpPr>
        <p:spPr>
          <a:xfrm>
            <a:off x="247649" y="5389601"/>
            <a:ext cx="115462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payroll processed for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 2024 is approximately 2,778,000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the company’s monthly salary expense.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28F2C-8122-052B-82EA-B8EC60C1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DA199DB-9E4B-318A-455E-6106D3703B08}"/>
              </a:ext>
            </a:extLst>
          </p:cNvPr>
          <p:cNvSpPr txBox="1"/>
          <p:nvPr/>
        </p:nvSpPr>
        <p:spPr>
          <a:xfrm>
            <a:off x="620182" y="566175"/>
            <a:ext cx="8411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5.2What is the average bonus given per department?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A1F03DF-6FC7-6B2E-FA1A-A303B765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411" y="1420800"/>
            <a:ext cx="6454929" cy="2008200"/>
          </a:xfrm>
          <a:prstGeom prst="rect">
            <a:avLst/>
          </a:prstGeom>
        </p:spPr>
      </p:pic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35AD123C-817A-D969-D0C8-F3EB15EB6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184" y="1420800"/>
            <a:ext cx="3522435" cy="25945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D710DF-D558-B0CC-9CFE-FF2D4290558D}"/>
              </a:ext>
            </a:extLst>
          </p:cNvPr>
          <p:cNvSpPr txBox="1"/>
          <p:nvPr/>
        </p:nvSpPr>
        <p:spPr>
          <a:xfrm>
            <a:off x="247649" y="5389601"/>
            <a:ext cx="11546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department provides the highest average bonus ~13,300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other departments.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5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55E2-1A79-3C46-5719-580A0CF2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43C760-A9D5-74D8-9785-E982D4EDFAE4}"/>
              </a:ext>
            </a:extLst>
          </p:cNvPr>
          <p:cNvSpPr txBox="1"/>
          <p:nvPr/>
        </p:nvSpPr>
        <p:spPr>
          <a:xfrm>
            <a:off x="620182" y="566175"/>
            <a:ext cx="8411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5.3 Which department receives the highest total bonuses?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2F22407-D7CF-713C-6E17-FF36E5B1F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76" y="1420800"/>
            <a:ext cx="6054273" cy="2560881"/>
          </a:xfrm>
          <a:prstGeom prst="rect">
            <a:avLst/>
          </a:prstGeom>
        </p:spPr>
      </p:pic>
      <p:pic>
        <p:nvPicPr>
          <p:cNvPr id="5" name="Picture 4" descr="A screenshot of a number&#10;&#10;AI-generated content may be incorrect.">
            <a:extLst>
              <a:ext uri="{FF2B5EF4-FFF2-40B4-BE49-F238E27FC236}">
                <a16:creationId xmlns:a16="http://schemas.microsoft.com/office/drawing/2014/main" id="{22D0D996-8F2F-0D17-8D8D-DF58BE8DB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302" y="2085130"/>
            <a:ext cx="3725680" cy="9753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5A5EF-80A0-0D3F-90C9-6A0D756F046E}"/>
              </a:ext>
            </a:extLst>
          </p:cNvPr>
          <p:cNvSpPr txBox="1"/>
          <p:nvPr/>
        </p:nvSpPr>
        <p:spPr>
          <a:xfrm>
            <a:off x="247649" y="5389601"/>
            <a:ext cx="11546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 receives the highest total bonus allocation ~96,000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all departments. </a:t>
            </a:r>
          </a:p>
        </p:txBody>
      </p:sp>
    </p:spTree>
    <p:extLst>
      <p:ext uri="{BB962C8B-B14F-4D97-AF65-F5344CB8AC3E}">
        <p14:creationId xmlns:p14="http://schemas.microsoft.com/office/powerpoint/2010/main" val="204811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61A98-EE17-9006-88F6-48E8E9E8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CC9C53-48C2-C186-3B3F-6D61EA820FB0}"/>
              </a:ext>
            </a:extLst>
          </p:cNvPr>
          <p:cNvSpPr txBox="1"/>
          <p:nvPr/>
        </p:nvSpPr>
        <p:spPr>
          <a:xfrm>
            <a:off x="620182" y="566175"/>
            <a:ext cx="10632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5.4 What is the average value of </a:t>
            </a:r>
            <a:r>
              <a:rPr lang="en-I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after considering leave deductions?</a:t>
            </a: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mputer code with blue text&#10;&#10;AI-generated content may be incorrect.">
            <a:extLst>
              <a:ext uri="{FF2B5EF4-FFF2-40B4-BE49-F238E27FC236}">
                <a16:creationId xmlns:a16="http://schemas.microsoft.com/office/drawing/2014/main" id="{B9525C36-0807-9F5E-CC4E-F1C48152A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433" y="1262354"/>
            <a:ext cx="6223000" cy="2992405"/>
          </a:xfrm>
          <a:prstGeom prst="rect">
            <a:avLst/>
          </a:prstGeom>
        </p:spPr>
      </p:pic>
      <p:pic>
        <p:nvPicPr>
          <p:cNvPr id="5" name="Picture 4" descr="A screenshot of a data&#10;&#10;AI-generated content may be incorrect.">
            <a:extLst>
              <a:ext uri="{FF2B5EF4-FFF2-40B4-BE49-F238E27FC236}">
                <a16:creationId xmlns:a16="http://schemas.microsoft.com/office/drawing/2014/main" id="{0290C163-2955-7EF8-A1FF-73D91EB14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057" y="1269999"/>
            <a:ext cx="3403600" cy="2742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23F5CA-035D-9BF9-44A9-70E5C5DC6FDE}"/>
              </a:ext>
            </a:extLst>
          </p:cNvPr>
          <p:cNvSpPr txBox="1"/>
          <p:nvPr/>
        </p:nvSpPr>
        <p:spPr>
          <a:xfrm>
            <a:off x="247649" y="5389601"/>
            <a:ext cx="115462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payroll per employee remains around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40K ~50K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stable compensation even after leave considerations. </a:t>
            </a:r>
          </a:p>
        </p:txBody>
      </p:sp>
    </p:spTree>
    <p:extLst>
      <p:ext uri="{BB962C8B-B14F-4D97-AF65-F5344CB8AC3E}">
        <p14:creationId xmlns:p14="http://schemas.microsoft.com/office/powerpoint/2010/main" val="78311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E081-CB69-323A-53C8-DFE74CE5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D976-5950-235B-0206-1AB4A928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6735"/>
            <a:ext cx="10515600" cy="1325563"/>
          </a:xfrm>
        </p:spPr>
        <p:txBody>
          <a:bodyPr>
            <a:normAutofit/>
          </a:bodyPr>
          <a:lstStyle/>
          <a:p>
            <a:pPr lvl="0" algn="ctr">
              <a:spcBef>
                <a:spcPts val="1000"/>
              </a:spcBef>
              <a:buSzPct val="100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working on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Analysis Project: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5B5BF-4838-EC83-CA39-7EE799D77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correct table relationships and ensuring accurate use of foreign keys.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data consistency with cascading updates and deletes.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complex joins for reports involving employee roles, leaves, and payroll.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all date fields follow the YYYY-MM-DD format for reliable time-based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duplicate entries using unique constraints, especially on email fields.</a:t>
            </a:r>
          </a:p>
        </p:txBody>
      </p:sp>
    </p:spTree>
    <p:extLst>
      <p:ext uri="{BB962C8B-B14F-4D97-AF65-F5344CB8AC3E}">
        <p14:creationId xmlns:p14="http://schemas.microsoft.com/office/powerpoint/2010/main" val="51233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30FA-99E2-1C45-EC72-3A1165D8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D048-D7FB-DCC2-EFBC-1E5F35EB6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2" y="-199753"/>
            <a:ext cx="12022667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FD8F3-8A42-94EB-2FB8-4090EE68234A}"/>
              </a:ext>
            </a:extLst>
          </p:cNvPr>
          <p:cNvSpPr txBox="1"/>
          <p:nvPr/>
        </p:nvSpPr>
        <p:spPr>
          <a:xfrm>
            <a:off x="3678865" y="70174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C632-D19D-7ABD-4B5A-180C07ED46C0}"/>
              </a:ext>
            </a:extLst>
          </p:cNvPr>
          <p:cNvSpPr txBox="1"/>
          <p:nvPr/>
        </p:nvSpPr>
        <p:spPr>
          <a:xfrm>
            <a:off x="501804" y="1343480"/>
            <a:ext cx="10894741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maintains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employee records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multiple departments, indicating a structured workforce with centralized employee data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and IT departments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 the largest number of staff, suggesting these functions are critical for operational and strategic activities.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analysis shows a monthly salary expenditure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2.78 million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payroll as a major organizational cost requiring efficient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 receives the highest salary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and bonus distribution, reflecting its importance in financial operations and decision-making.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Director role offers the highest salary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leadership roles command significantly higher compensation levels.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analysis shows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leave usage across departments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consistent HR policies and fair employee benefits.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this Employee Management System enables efficient HR decision-making, improved payroll transparency, and better workforce planning through structured and accessible employee data.</a:t>
            </a:r>
          </a:p>
        </p:txBody>
      </p:sp>
    </p:spTree>
    <p:extLst>
      <p:ext uri="{BB962C8B-B14F-4D97-AF65-F5344CB8AC3E}">
        <p14:creationId xmlns:p14="http://schemas.microsoft.com/office/powerpoint/2010/main" val="200302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1E2C-0CE7-6CDB-AEBE-66FA7AEA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12F6-C0DE-949E-6835-23C6C4924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433851" cy="103357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(Key finding overall) :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267CE-A7B4-EBAB-AB1C-4EA517BF6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033577"/>
            <a:ext cx="10882745" cy="4563660"/>
          </a:xfrm>
        </p:spPr>
        <p:txBody>
          <a:bodyPr>
            <a:normAutofit fontScale="92500" lnSpcReduction="10000"/>
          </a:bodyPr>
          <a:lstStyle/>
          <a:p>
            <a:pPr marL="114300" indent="0" algn="just">
              <a:lnSpc>
                <a:spcPct val="12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designed and implemented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 using SQL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efficient storage, management, and analysis of employee data. By integrating multiple relational tables such as employee details, job roles, payroll, qualifications, and leave records, the system ensures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integrity, consistency, and efficient querying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analysis provided valuable insights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workforce distribution, salary allocation, payroll expenditure, and employee leave patterns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identify key organizational trends. The results highlight the importance of departments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and IT in workforce structure and compensation allocation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Overall, this system demonstrates how structured databases and SQL analytics can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 HR operations, improve transparency in payroll management, and support data-driven decision-making for organizational growth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1718546"/>
            <a:ext cx="3948660" cy="2004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66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</a:t>
            </a:r>
            <a:r>
              <a:rPr lang="en-IN" sz="6600" b="0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YOU</a:t>
            </a:r>
            <a:endParaRPr sz="3200" b="0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F3D6A9-A906-A1CA-78FB-B5C4153B8F80}"/>
              </a:ext>
            </a:extLst>
          </p:cNvPr>
          <p:cNvSpPr txBox="1"/>
          <p:nvPr/>
        </p:nvSpPr>
        <p:spPr>
          <a:xfrm>
            <a:off x="985327" y="5165605"/>
            <a:ext cx="42079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BHAVANI CHARY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12568</TotalTime>
  <Words>1372</Words>
  <Application>Microsoft Macintosh PowerPoint</Application>
  <PresentationFormat>Widescreen</PresentationFormat>
  <Paragraphs>116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Times New Roman</vt:lpstr>
      <vt:lpstr>Libre Baskerville</vt:lpstr>
      <vt:lpstr>Wingdings</vt:lpstr>
      <vt:lpstr>Office Theme</vt:lpstr>
      <vt:lpstr>PowerPoint Presentation</vt:lpstr>
      <vt:lpstr>About me :</vt:lpstr>
      <vt:lpstr>Agenda :</vt:lpstr>
      <vt:lpstr>Objective of the Project:</vt:lpstr>
      <vt:lpstr>Tables info Used in the Project :</vt:lpstr>
      <vt:lpstr>Tables Used in the Project :</vt:lpstr>
      <vt:lpstr>Tables Used in the Project :</vt:lpstr>
      <vt:lpstr>ER Diagram and schema :</vt:lpstr>
      <vt:lpstr>PowerPoint Presentation</vt:lpstr>
      <vt:lpstr>SQL query results with screenshots or summaries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working on  SQL Analysis Project:</vt:lpstr>
      <vt:lpstr>Final business insights &amp; recommendations:</vt:lpstr>
      <vt:lpstr>Conclusion (Key finding overall)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bhavani chary chityala</cp:lastModifiedBy>
  <cp:revision>39</cp:revision>
  <dcterms:created xsi:type="dcterms:W3CDTF">2021-02-16T05:19:01Z</dcterms:created>
  <dcterms:modified xsi:type="dcterms:W3CDTF">2026-03-09T09:06:15Z</dcterms:modified>
</cp:coreProperties>
</file>